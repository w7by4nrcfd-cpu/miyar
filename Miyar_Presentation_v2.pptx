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8.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1.xml"/>
  <Override ContentType="application/vnd.openxmlformats-officedocument.presentationml.notesSlide+xml" PartName="/ppt/notesSlides/notesSlide27.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6.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63" r:id="rId13"/>
    <p:sldId id="266" r:id="rId16"/>
    <p:sldId id="282" r:id="rId32"/>
    <p:sldId id="279" r:id="rId29"/>
    <p:sldId id="283" r:id="rId33"/>
    <p:sldId id="272" r:id="rId22"/>
    <p:sldId id="267" r:id="rId17"/>
    <p:sldId id="276" r:id="rId26"/>
    <p:sldId id="270" r:id="rId20"/>
    <p:sldId id="264" r:id="rId14"/>
    <p:sldId id="275" r:id="rId25"/>
    <p:sldId id="281" r:id="rId31"/>
    <p:sldId id="284" r:id="rId34"/>
    <p:sldId id="285" r:id="rId35"/>
    <p:sldId id="273" r:id="rId23"/>
    <p:sldId id="286" r:id="rId36"/>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Relationships xmlns="http://schemas.openxmlformats.org/package/2006/relationships"><Relationship Id="rId40" Type="http://schemas.openxmlformats.org/officeDocument/2006/relationships/font" Target="fonts/Urbanist-boldItalic.fntdata"/><Relationship Id="rId42" Type="http://schemas.openxmlformats.org/officeDocument/2006/relationships/font" Target="fonts/ReadexProMedium-bold.fntdata"/><Relationship Id="rId41" Type="http://schemas.openxmlformats.org/officeDocument/2006/relationships/font" Target="fonts/ReadexProMedium-regular.fntdata"/><Relationship Id="rId44" Type="http://schemas.openxmlformats.org/officeDocument/2006/relationships/font" Target="fonts/ReadexProSemiBold-bold.fntdata"/><Relationship Id="rId43" Type="http://schemas.openxmlformats.org/officeDocument/2006/relationships/font" Target="fonts/ReadexProSemiBold-regular.fntdata"/><Relationship Id="rId46" Type="http://schemas.openxmlformats.org/officeDocument/2006/relationships/font" Target="fonts/ReadexPro-bold.fntdata"/><Relationship Id="rId45" Type="http://schemas.openxmlformats.org/officeDocument/2006/relationships/font" Target="fonts/ReadexPr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48" Type="http://schemas.openxmlformats.org/officeDocument/2006/relationships/font" Target="fonts/ReadexProLight-bold.fntdata"/><Relationship Id="rId47" Type="http://schemas.openxmlformats.org/officeDocument/2006/relationships/font" Target="fonts/ReadexProLight-regular.fntdata"/><Relationship Id="rId49" Type="http://customschemas.google.com/relationships/presentationmetadata" Target="metadata"/><Relationship Id="rId5" Type="http://schemas.openxmlformats.org/officeDocument/2006/relationships/notesMaster" Target="notesMasters/notesMaster1.xml"/><Relationship Id="rId31" Type="http://schemas.openxmlformats.org/officeDocument/2006/relationships/slide" Target="slides/slide26.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Urbanist-regular.fntdata"/><Relationship Id="rId36" Type="http://schemas.openxmlformats.org/officeDocument/2006/relationships/slide" Target="slides/slide31.xml"/><Relationship Id="rId39" Type="http://schemas.openxmlformats.org/officeDocument/2006/relationships/font" Target="fonts/Urbanist-italic.fntdata"/><Relationship Id="rId38" Type="http://schemas.openxmlformats.org/officeDocument/2006/relationships/font" Target="fonts/Urbanist-bold.fntdata"/><Relationship Id="rId20" Type="http://schemas.openxmlformats.org/officeDocument/2006/relationships/slide" Target="slides/slide15.xml"/><Relationship Id="rId22" Type="http://schemas.openxmlformats.org/officeDocument/2006/relationships/slide" Target="slides/slide17.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9" Type="http://schemas.openxmlformats.org/officeDocument/2006/relationships/slide" Target="slides/slide24.xml"/><Relationship Id="rId13" Type="http://schemas.openxmlformats.org/officeDocument/2006/relationships/slide" Target="slides/slide8.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[عرض الدقائق الخمس] مِعيار لا يتحقق من نص واحد، بل يختبر المساعد الذكي كنظام قبل أن يصل إلى المستفيد، ثم يصدر قرار نشر أو منع. كل رقم في هذا العرض منسوخ من ملفات المستودع العام ومعه مقامه، والحدود معلنة في شريحة مستقلة.</a:t>
            </a: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[عرض الدقائق الخمس] في 48 إجابة رسمية استخرج مِعيار 46 استشهاداً: من 31 آية أيّد 20 بمطابقة حرفية لموضعها، وحكم على 3 بأن نصها يختلف عن الموضع المذكور، وفي OFF-03 الفرق حرف واحد (س/ص) لم يُحسم أهو خطأ أم وجه رسم أو قراءة. والأحاديث الـ15 كلها «يحتاج تحقق» لأن البيانات لا تكفي لتأييدها، وهذا لا يعني أنها خاطئة، و7 إجابات أُحيلت إلى مراجعة بشرية دون حكم آلي.</a:t>
            </a:r>
          </a:p>
        </p:txBody>
      </p:sp>
      <p:sp>
        <p:nvSpPr>
          <p:cNvPr id="496" name="Google Shape;49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[عرض الدقائق الخمس] الأخطاء الثلاثة الأولى هي ما تتوقعه الحزمة العلمية للتحدي من مساعد يجيب عن الإسلام: اختلاق حديث، ونقل آية محرّفة، والفتوى في واقعة شخصية. والأدوات المعتادة تفحص منشوراً أو نصاً واحداً، ولا تقيس سلوك المساعد على مجموعة أسئلة قبل نشر نسخته.</a:t>
            </a: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baseline وrag يستخدمان النموذج نفسه gemini-3.5-flash-lite؛ الفرق أن rag يبحث محلياً في آيات Quranpedia ومدخلات الأحاديث المكتملة فقط، ولا يدخل محرك الحكم في أي منهما. والمقارنة تميل لصالح rag لأن مدخلات الأحاديث أُعدّت لحالات الاختبار نفسها، فلا يُستدل بها على أن أحدهما أفضل.</a:t>
            </a:r>
          </a:p>
        </p:txBody>
      </p:sp>
      <p:sp>
        <p:nvSpPr>
          <p:cNvPr id="554" name="Google Shape;55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[عرض الدقائق الخمس] منعت البوابة rag-2 مقابل baseline-3 لأن المستوى A نزل إلى 83.3 مقابل 100.0، والمستوى B إلى 54.0 مقابل 54.3، ومنعتها أيضاً مقابل الجولتين الأخريين بأسباب مختلفة. والكلية 56.1 محتسبة من 12 مقابل 53.3 محتسبة من 9، فهي ليست مقارنة متكافئة، والثابت فقط أن rag-2 لم يستوفِ شروط البوابة.</a:t>
            </a: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نص القرآن من تنزيلات Quranpedia الرسمية بالنسخة 2026-10-01، ويُطابَق حرفياً بعد توحيد التشكيل والهمزات دون نموذج لغوي. والأحاديث من ملف يدوي فيه 9 مدخلات، 8 منها مكتملة بروابط الدرر السنية، وما لا مدخل له يُحكم «يحتاج تحقق» لا «خاطئ».</a:t>
            </a: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أول ما يلزم مراجع شرعي مختص مستقل للحالات، وإكمال مدخلات الأحاديث مع حقل منظّم لنفي الوجود في الصحيحين، وجولات rag إضافية لقياس ثباته. ثم قياس النفع والزمن بمراجع مستقل وفق البروتوكول المكتوب، ووحدة Red Teaming لحالات حقن الأوامر التي لم تدخل التشغيلات الرسمية بعد.</a:t>
            </a: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6" name="Google Shape;70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Gold Set تحقق نصي للاستشهادات القرآنية فقط (31 استشهاداً، 21 زوجاً فريداً) أجراه صاحب المشروع وحده بعد أن رأى أحكام مِعيار، فهو غير مستقل وليس مراجعة شرعية، ولا تُحسب منه نسب؛ ومنه «مؤيَّد» خاطئ في الحالات الحرجة: 0 من 3، للآيات فقط. والمراجعة الشرعية الوحيدة لحالة OFF-06 أجراها خريج شريعة قريب لصاحب المشروع، وأحكام الأحاديث والسلوك وزمن التقييم ونفع المستخدم لم تُقَس، وبروتوكول قياسها في docs/BENCHMARK_PROTOCOL.md.</a:t>
            </a:r>
          </a:p>
        </p:txBody>
      </p:sp>
      <p:sp>
        <p:nvSpPr>
          <p:cNvPr id="707" name="Google Shape;707;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5" name="Google Shape;72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أربع جولات رسمية مكتملة على 12 حالة: ثلاث لـ baseline وواحدة لـ rag، لأن حد Groq اليومي المجاني أوقف بقية جولات rag. الدرجة الكلية لـ baseline تراوحت بين 53.3 و68.8 (فرق 15.5)، ولا تُقارن الكليات دون مقاماتها لأن الحالات المُحالة لا تدخل الحساب.</a:t>
            </a:r>
          </a:p>
        </p:txBody>
      </p:sp>
      <p:sp>
        <p:nvSpPr>
          <p:cNvPr id="726" name="Google Shape;726;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[عرض الدقائق الخمس] المساعد يجيب، ثم يستخرج نموذج الحكم الاستشهادات، وتُطابَق الآيات حرفياً مع نص Quranpedia والأحاديث مع الملف اليدوي برمجياً دون نموذج لغوي. بعدها يحكم الحَكَم على السلوك بدرجة ثقة، وما دون العتبة 0.75 يُحال إلى مراجعة بشرية ولا يدخل الدرجة، ثم تُطبَّق قاعدة البوابة المكتوبة.</a:t>
            </a: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[عرض الدقائق الخمس] اللقطات من ملفات الموقع الحي miyar.w7by4nrcfd.workers.dev كما هي: الرئيسية، وصفحة النتائج بقرار البوابة، وسجل الحالة OFF-06، وإعادة العرض، وصفحة التحقق بعد اختيار مثال الآية المحرّفة. إعادة العرض تعرض تشغيلاً رسمياً محفوظاً وليست تشغيلاً حياً، والموقع لا يستدعي أي نموذج.</a:t>
            </a:r>
          </a:p>
        </p:txBody>
      </p:sp>
      <p:sp>
        <p:nvSpPr>
          <p:cNvPr id="840" name="Google Shape;840;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[عرض الدقائق الخمس] يطرح مِعيار على المساعد أسئلة موسومة بمستويات المحتوى الأربعة من الحزمة العلمية، ويتحقق من كل آية وحديث في إجابته، ويفحص سلوكه المطلوب للمستوى. ثم يجمع ذلك في درجة لكل مستوى وقرار بوابة: نشر النسخة أو منعها.</a:t>
            </a: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المساعد المُختبَر في التشغيل الرسمي Gemini gemini-3.5-flash-lite، والاستخراج وحكم السلوك بنموذج مختلف عمداً هو openai/gpt-oss-120b عبر Groq بلا احتياط، وAnthropic مبني في الكود ولم يُستدعَ في أي تشغيل. أما مطابقة الآيات والأحاديث والدرجة والبوابة فبرمجية بـ Python دون نموذج، والموقع ثابت على Cloudflare Workers يعرض نتائج محفوظة، والاختبارات في GitHub Actions.</a:t>
            </a:r>
          </a:p>
        </p:txBody>
      </p:sp>
      <p:sp>
        <p:nvSpPr>
          <p:cNvPr id="879" name="Google Shape;879;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5" name="Google Shape;895;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أرقام التسليم من 12 حالة فقط، ولـ rag جولة مكتملة واحدة لأن حد Groq اليومي المجاني أوقف بقية جولاته، فلا قياس لثباته. ولا مراجعة شرعية مستقلة، والحكم الآلي مساعد للمراجعة لا بديل عنها، وفرق الرسم مثل «مرضاة»/«مرضات» قد يُحكم «خاطئ» مع أنه ليس تحريفاً.</a:t>
            </a:r>
          </a:p>
        </p:txBody>
      </p:sp>
      <p:sp>
        <p:nvSpPr>
          <p:cNvPr id="896" name="Google Shape;896;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3" name="Google Shape;90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الموقع ثابت يعرض نتائج محفوظة، فلا كلفة نموذج لكل زيارة، والوضع الافتراضي cached لا يستدعي أي نموذج، والوضع live محدود بسقف يومي. متوسطات الرموز من سجلات الجولات الأربع المكتملة، ولم نكتب رقم كلفة لأننا لم نتحقق من السعر؛ وعند خطأ 429 لا تُحفظ الجولة الناقصة رسمياً ولا تدخل أي درجة.</a:t>
            </a:r>
          </a:p>
        </p:txBody>
      </p:sp>
      <p:sp>
        <p:nvSpPr>
          <p:cNvPr id="904" name="Google Shape;904;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rtl="1" algn="r"/>
            <a:r>
              <a:rPr lang="ar-SA" sz="1200"/>
              <a:t>الموقع الحي يعمل بنتائج محفوظة دون أي استدعاء نموذج، والمستودع العام يضم الكود والسجلات الرسمية وبصماتها وكل ملف نُسخت منه أرقام هذا العرض. مِعيار أداة مدعومة بالذكاء الاصطناعي لا تُصدر فتاوى، وحكمها الآلي مساعد للمراجعة البشرية لا بديل عنها.</a:t>
            </a: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jpe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jpe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jpe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jpe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jpe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jpe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7.jpe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7.jpe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jpe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crop_home.jpeg"/><Relationship Id="rId6" Type="http://schemas.openxmlformats.org/officeDocument/2006/relationships/image" Target="../media/crop_results.jpeg"/><Relationship Id="rId7" Type="http://schemas.openxmlformats.org/officeDocument/2006/relationships/image" Target="../media/crop_case06.jpeg"/><Relationship Id="rId8" Type="http://schemas.openxmlformats.org/officeDocument/2006/relationships/image" Target="../media/crop_replay.jpeg"/><Relationship Id="rId9" Type="http://schemas.openxmlformats.org/officeDocument/2006/relationships/image" Target="../media/crop_check.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jpe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 Id="rId3" Type="http://schemas.openxmlformats.org/officeDocument/2006/relationships/image" Target="../media/image1.jpe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 Id="rId3" Type="http://schemas.openxmlformats.org/officeDocument/2006/relationships/image" Target="../media/image7.jpe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jpeg"/><Relationship Id="rId4" Type="http://schemas.openxmlformats.org/officeDocument/2006/relationships/image" Target="../media/image2.png"/><Relationship Id="rId9" Type="http://schemas.openxmlformats.org/officeDocument/2006/relationships/image" Target="../media/image19.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10" Type="http://schemas.openxmlformats.org/officeDocument/2006/relationships/image" Target="../media/image20.png"/><Relationship Id="rId11" Type="http://schemas.openxmlformats.org/officeDocument/2006/relationships/hyperlink" Target="https://miyar.w7by4nrcfd.workers.dev" TargetMode="External"/><Relationship Id="rId12" Type="http://schemas.openxmlformats.org/officeDocument/2006/relationships/hyperlink" Target="https://github.com/w7by4nrcfd-cpu/Miyar" TargetMode="External"/></Relationships>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6450" b="1">
                <a:solidFill>
                  <a:srgbClr val="F2F4FF"/>
                </a:solidFill>
                <a:latin typeface="Readex Pro"/>
                <a:ea typeface="Readex Pro"/>
                <a:cs typeface="Readex Pro"/>
                <a:sym typeface="Readex Pro"/>
              </a:rPr>
              <a:t>مِعيار</a:t>
            </a:r>
            <a:endParaRPr lang="ar-SA" sz="6450" b="1">
              <a:solidFill>
                <a:srgbClr val="F2F4FF"/>
              </a:solidFill>
              <a:latin typeface="Readex Pro"/>
              <a:ea typeface="Readex Pro"/>
              <a:cs typeface="Readex Pro"/>
              <a:sym typeface="Readex Pro"/>
            </a:endParaRPr>
          </a:p>
        </p:txBody>
      </p:sp>
      <p:sp>
        <p:nvSpPr>
          <p:cNvPr id="487" name="Google Shape;487;p8"/>
          <p:cNvSpPr txBox="1"/>
          <p:nvPr>
            <p:ph idx="1" type="body"/>
          </p:nvPr>
        </p:nvSpPr>
        <p:spPr>
          <a:xfrm>
            <a:off x="7791450" y="5334000"/>
            <a:ext cx="9048900" cy="1900000"/>
          </a:xfrm>
          <a:prstGeom prst="rect">
            <a:avLst/>
          </a:prstGeom>
          <a:noFill/>
          <a:ln>
            <a:noFill/>
          </a:ln>
        </p:spPr>
        <p:txBody>
          <a:bodyPr anchorCtr="0" anchor="t" bIns="0" lIns="0" spcFirstLastPara="1" rIns="0" wrap="square" tIns="0">
            <a:noAutofit/>
          </a:bodyPr>
          <a:lstStyle/>
          <a:p>
            <a:pPr marL="0" indent="0" rtl="1" algn="r">
              <a:lnSpc>
                <a:spcPct val="110000"/>
              </a:lnSpc>
              <a:spcBef>
                <a:spcPts val="0"/>
              </a:spcBef>
              <a:spcAft>
                <a:spcPts val="0"/>
              </a:spcAft>
              <a:buNone/>
            </a:pPr>
            <a:r>
              <a:rPr lang="ar-SA" sz="3300" b="0">
                <a:solidFill>
                  <a:srgbClr val="2EF2C2"/>
                </a:solidFill>
                <a:latin typeface="Readex Pro"/>
                <a:ea typeface="Readex Pro"/>
                <a:cs typeface="Readex Pro"/>
                <a:sym typeface="Readex Pro"/>
              </a:rPr>
              <a:t>بُني كبوابة جودة لاختبار مساعدات الذكاء الاصطناعي في المحتوى الإسلامي</a:t>
            </a:r>
            <a:endParaRPr lang="ar-SA" sz="3300" b="0">
              <a:solidFill>
                <a:srgbClr val="2EF2C2"/>
              </a:solidFill>
              <a:latin typeface="Readex Pro"/>
              <a:ea typeface="Readex Pro"/>
              <a:cs typeface="Readex Pro"/>
              <a:sym typeface="Readex Pro"/>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12472130" y="9120188"/>
            <a:ext cx="4358000" cy="420000"/>
          </a:xfrm>
          <a:prstGeom prst="rect">
            <a:avLst/>
          </a:prstGeom>
          <a:noFill/>
          <a:ln>
            <a:noFill/>
          </a:ln>
        </p:spPr>
        <p:txBody>
          <a:bodyPr anchorCtr="0" anchor="ctr" bIns="25400" lIns="25400" spcFirstLastPara="1" rIns="25400" wrap="square" tIns="25400">
            <a:noAutofit/>
          </a:bodyPr>
          <a:lstStyle/>
          <a:p>
            <a:pPr marL="0" indent="0" rtl="1" algn="r">
              <a:lnSpc>
                <a:spcPct val="100000"/>
              </a:lnSpc>
              <a:spcBef>
                <a:spcPts val="0"/>
              </a:spcBef>
              <a:spcAft>
                <a:spcPts val="0"/>
              </a:spcAft>
              <a:buNone/>
            </a:pPr>
            <a:r>
              <a:rPr lang="ar-SA" sz="1950" b="0">
                <a:solidFill>
                  <a:srgbClr val="8E99CC"/>
                </a:solidFill>
                <a:latin typeface="Readex Pro Light"/>
                <a:ea typeface="Readex Pro Light"/>
                <a:cs typeface="Readex Pro Light"/>
                <a:sym typeface="Readex Pro Light"/>
              </a:rPr>
              <a:t>مشاركة فردية · المسار 04</a:t>
            </a:r>
            <a:endParaRPr lang="ar-SA" sz="1950" b="0">
              <a:solidFill>
                <a:srgbClr val="8E99CC"/>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420000"/>
          </a:xfrm>
          <a:prstGeom prst="rect">
            <a:avLst/>
          </a:prstGeom>
          <a:noFill/>
          <a:ln>
            <a:noFill/>
          </a:ln>
        </p:spPr>
        <p:txBody>
          <a:bodyPr anchorCtr="0" anchor="ctr" bIns="25400" lIns="25400" spcFirstLastPara="1" rIns="25400" wrap="square" tIns="25400">
            <a:noAutofit/>
          </a:bodyPr>
          <a:lstStyle/>
          <a:p>
            <a:pPr marL="0" indent="0" rtl="1" algn="l">
              <a:lnSpc>
                <a:spcPct val="100000"/>
              </a:lnSpc>
              <a:spcBef>
                <a:spcPts val="0"/>
              </a:spcBef>
              <a:spcAft>
                <a:spcPts val="0"/>
              </a:spcAft>
              <a:buNone/>
            </a:pPr>
            <a:r>
              <a:rPr lang="ar-SA" sz="1950" b="0">
                <a:solidFill>
                  <a:srgbClr val="8E99CC"/>
                </a:solidFill>
                <a:latin typeface="Readex Pro Light"/>
                <a:ea typeface="Readex Pro Light"/>
                <a:cs typeface="Readex Pro Light"/>
                <a:sym typeface="Readex Pro Light"/>
              </a:rPr>
              <a:t>4–6 أكتوبر 2026</a:t>
            </a:r>
            <a:endParaRPr lang="ar-SA" sz="1950" b="0">
              <a:solidFill>
                <a:srgbClr val="8E99CC"/>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97" name="Shape 497"/>
        <p:cNvGrpSpPr/>
        <p:nvPr/>
      </p:nvGrpSpPr>
      <p:grpSpPr>
        <a:xfrm>
          <a:off x="0" y="0"/>
          <a:ext cx="0" cy="0"/>
          <a:chOff x="0" y="0"/>
          <a:chExt cx="0" cy="0"/>
        </a:xfrm>
      </p:grpSpPr>
      <p:pic>
        <p:nvPicPr>
          <p:cNvPr id="498" name="Google Shape;498;p9"/>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99" name="Google Shape;499;p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00" name="Google Shape;500;p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2EF2C2"/>
                </a:solidFill>
                <a:latin typeface="Readex Pro"/>
                <a:ea typeface="Readex Pro"/>
                <a:cs typeface="Readex Pro"/>
                <a:sym typeface="Readex Pro"/>
              </a:rPr>
              <a:t>الاكتشافات</a:t>
            </a:r>
            <a:endParaRPr lang="ar-SA" sz="1800" b="0">
              <a:solidFill>
                <a:srgbClr val="2EF2C2"/>
              </a:solidFill>
              <a:latin typeface="Readex Pro"/>
              <a:ea typeface="Readex Pro"/>
              <a:cs typeface="Readex Pro"/>
              <a:sym typeface="Readex Pro"/>
            </a:endParaRPr>
          </a:p>
        </p:txBody>
      </p:sp>
      <p:sp>
        <p:nvSpPr>
          <p:cNvPr id="501" name="Google Shape;501;p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500" b="1">
                <a:solidFill>
                  <a:srgbClr val="F2F4FF"/>
                </a:solidFill>
                <a:latin typeface="Readex Pro"/>
                <a:ea typeface="Readex Pro"/>
                <a:cs typeface="Readex Pro"/>
                <a:sym typeface="Readex Pro"/>
              </a:rPr>
              <a:t>في 48 إجابة رسمية: 3 آيات بنص مختلف و7 إحالات</a:t>
            </a:r>
            <a:endParaRPr lang="ar-SA" sz="4500" b="1">
              <a:solidFill>
                <a:srgbClr val="F2F4FF"/>
              </a:solidFill>
              <a:latin typeface="Readex Pro"/>
              <a:ea typeface="Readex Pro"/>
              <a:cs typeface="Readex Pro"/>
              <a:sym typeface="Readex Pro"/>
            </a:endParaRPr>
          </a:p>
        </p:txBody>
      </p:sp>
      <p:sp>
        <p:nvSpPr>
          <p:cNvPr id="502" name="Google Shape;502;p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10</a:t>
            </a:fld>
            <a:endParaRPr/>
          </a:p>
        </p:txBody>
      </p:sp>
      <p:sp>
        <p:nvSpPr>
          <p:cNvPr id="503" name="Google Shape;503;p9"/>
          <p:cNvSpPr txBox="1"/>
          <p:nvPr>
            <p:ph idx="2" type="body"/>
          </p:nvPr>
        </p:nvSpPr>
        <p:spPr>
          <a:xfrm>
            <a:off x="12077700" y="3507625"/>
            <a:ext cx="4476900" cy="7239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400" b="1">
                <a:solidFill>
                  <a:srgbClr val="2EF2C2"/>
                </a:solidFill>
                <a:latin typeface="Readex Pro"/>
                <a:ea typeface="Readex Pro"/>
                <a:cs typeface="Readex Pro"/>
                <a:sym typeface="Readex Pro"/>
              </a:rPr>
              <a:t>48</a:t>
            </a:r>
            <a:endParaRPr lang="ar-SA" sz="4400" b="1">
              <a:solidFill>
                <a:srgbClr val="2EF2C2"/>
              </a:solidFill>
              <a:latin typeface="Readex Pro"/>
              <a:ea typeface="Readex Pro"/>
              <a:cs typeface="Readex Pro"/>
              <a:sym typeface="Readex Pro"/>
            </a:endParaRPr>
          </a:p>
        </p:txBody>
      </p:sp>
      <p:sp>
        <p:nvSpPr>
          <p:cNvPr id="504" name="Google Shape;504;p9"/>
          <p:cNvSpPr txBox="1"/>
          <p:nvPr>
            <p:ph idx="3" type="body"/>
          </p:nvPr>
        </p:nvSpPr>
        <p:spPr>
          <a:xfrm>
            <a:off x="12077700" y="4574400"/>
            <a:ext cx="4476900" cy="6192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600" b="1">
                <a:solidFill>
                  <a:srgbClr val="F2F4FF"/>
                </a:solidFill>
                <a:latin typeface="Readex Pro"/>
                <a:ea typeface="Readex Pro"/>
                <a:cs typeface="Readex Pro"/>
                <a:sym typeface="Readex Pro"/>
              </a:rPr>
              <a:t>إجابة مُقيَّمة</a:t>
            </a:r>
            <a:endParaRPr lang="ar-SA" sz="2600" b="1">
              <a:solidFill>
                <a:srgbClr val="F2F4FF"/>
              </a:solidFill>
              <a:latin typeface="Readex Pro"/>
              <a:ea typeface="Readex Pro"/>
              <a:cs typeface="Readex Pro"/>
              <a:sym typeface="Readex Pro"/>
            </a:endParaRPr>
          </a:p>
        </p:txBody>
      </p:sp>
      <p:sp>
        <p:nvSpPr>
          <p:cNvPr id="505" name="Google Shape;505;p9"/>
          <p:cNvSpPr txBox="1"/>
          <p:nvPr>
            <p:ph idx="4" type="body"/>
          </p:nvPr>
        </p:nvSpPr>
        <p:spPr>
          <a:xfrm>
            <a:off x="12077700" y="5269725"/>
            <a:ext cx="4476900" cy="7812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000" b="0">
                <a:solidFill>
                  <a:srgbClr val="8E99CC"/>
                </a:solidFill>
                <a:latin typeface="Readex Pro"/>
                <a:ea typeface="Readex Pro"/>
                <a:cs typeface="Readex Pro"/>
                <a:sym typeface="Readex Pro"/>
              </a:rPr>
              <a:t>4 جولات × 12 حالة</a:t>
            </a:r>
            <a:endParaRPr lang="ar-SA" sz="2000" b="0">
              <a:solidFill>
                <a:srgbClr val="8E99CC"/>
              </a:solidFill>
              <a:latin typeface="Readex Pro"/>
              <a:ea typeface="Readex Pro"/>
              <a:cs typeface="Readex Pro"/>
              <a:sym typeface="Readex Pro"/>
            </a:endParaRPr>
          </a:p>
        </p:txBody>
      </p:sp>
      <p:sp>
        <p:nvSpPr>
          <p:cNvPr id="506" name="Google Shape;506;p9"/>
          <p:cNvSpPr txBox="1"/>
          <p:nvPr>
            <p:ph idx="5" type="body"/>
          </p:nvPr>
        </p:nvSpPr>
        <p:spPr>
          <a:xfrm>
            <a:off x="6743700" y="3507625"/>
            <a:ext cx="4476900" cy="7239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400" b="1">
                <a:solidFill>
                  <a:srgbClr val="2EF2C2"/>
                </a:solidFill>
                <a:latin typeface="Readex Pro"/>
                <a:ea typeface="Readex Pro"/>
                <a:cs typeface="Readex Pro"/>
                <a:sym typeface="Readex Pro"/>
              </a:rPr>
              <a:t>46</a:t>
            </a:r>
            <a:endParaRPr lang="ar-SA" sz="4400" b="1">
              <a:solidFill>
                <a:srgbClr val="2EF2C2"/>
              </a:solidFill>
              <a:latin typeface="Readex Pro"/>
              <a:ea typeface="Readex Pro"/>
              <a:cs typeface="Readex Pro"/>
              <a:sym typeface="Readex Pro"/>
            </a:endParaRPr>
          </a:p>
        </p:txBody>
      </p:sp>
      <p:sp>
        <p:nvSpPr>
          <p:cNvPr id="507" name="Google Shape;507;p9"/>
          <p:cNvSpPr txBox="1"/>
          <p:nvPr>
            <p:ph idx="6" type="body"/>
          </p:nvPr>
        </p:nvSpPr>
        <p:spPr>
          <a:xfrm>
            <a:off x="6743700" y="4574400"/>
            <a:ext cx="4476900" cy="6192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600" b="1">
                <a:solidFill>
                  <a:srgbClr val="F2F4FF"/>
                </a:solidFill>
                <a:latin typeface="Readex Pro"/>
                <a:ea typeface="Readex Pro"/>
                <a:cs typeface="Readex Pro"/>
                <a:sym typeface="Readex Pro"/>
              </a:rPr>
              <a:t>استشهاداً مستخرجاً</a:t>
            </a:r>
            <a:endParaRPr lang="ar-SA" sz="2600" b="1">
              <a:solidFill>
                <a:srgbClr val="F2F4FF"/>
              </a:solidFill>
              <a:latin typeface="Readex Pro"/>
              <a:ea typeface="Readex Pro"/>
              <a:cs typeface="Readex Pro"/>
              <a:sym typeface="Readex Pro"/>
            </a:endParaRPr>
          </a:p>
        </p:txBody>
      </p:sp>
      <p:sp>
        <p:nvSpPr>
          <p:cNvPr id="508" name="Google Shape;508;p9"/>
          <p:cNvSpPr txBox="1"/>
          <p:nvPr>
            <p:ph idx="7" type="body"/>
          </p:nvPr>
        </p:nvSpPr>
        <p:spPr>
          <a:xfrm>
            <a:off x="6743700" y="5269725"/>
            <a:ext cx="4476900" cy="7812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000" b="0">
                <a:solidFill>
                  <a:srgbClr val="8E99CC"/>
                </a:solidFill>
                <a:latin typeface="Readex Pro"/>
                <a:ea typeface="Readex Pro"/>
                <a:cs typeface="Readex Pro"/>
                <a:sym typeface="Readex Pro"/>
              </a:rPr>
              <a:t>من 24 إجابة</a:t>
            </a:r>
            <a:endParaRPr lang="ar-SA" sz="2000" b="0">
              <a:solidFill>
                <a:srgbClr val="8E99CC"/>
              </a:solidFill>
              <a:latin typeface="Readex Pro"/>
              <a:ea typeface="Readex Pro"/>
              <a:cs typeface="Readex Pro"/>
              <a:sym typeface="Readex Pro"/>
            </a:endParaRPr>
          </a:p>
        </p:txBody>
      </p:sp>
      <p:sp>
        <p:nvSpPr>
          <p:cNvPr id="509" name="Google Shape;509;p9"/>
          <p:cNvSpPr txBox="1"/>
          <p:nvPr>
            <p:ph idx="8" type="body"/>
          </p:nvPr>
        </p:nvSpPr>
        <p:spPr>
          <a:xfrm>
            <a:off x="1409700" y="3507625"/>
            <a:ext cx="4476900" cy="7239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400" b="1">
                <a:solidFill>
                  <a:srgbClr val="2EF2C2"/>
                </a:solidFill>
                <a:latin typeface="Readex Pro"/>
                <a:ea typeface="Readex Pro"/>
                <a:cs typeface="Readex Pro"/>
                <a:sym typeface="Readex Pro"/>
              </a:rPr>
              <a:t>20 من 31</a:t>
            </a:r>
            <a:endParaRPr lang="ar-SA" sz="4400" b="1">
              <a:solidFill>
                <a:srgbClr val="2EF2C2"/>
              </a:solidFill>
              <a:latin typeface="Readex Pro"/>
              <a:ea typeface="Readex Pro"/>
              <a:cs typeface="Readex Pro"/>
              <a:sym typeface="Readex Pro"/>
            </a:endParaRPr>
          </a:p>
        </p:txBody>
      </p:sp>
      <p:sp>
        <p:nvSpPr>
          <p:cNvPr id="510" name="Google Shape;510;p9"/>
          <p:cNvSpPr txBox="1"/>
          <p:nvPr>
            <p:ph idx="9" type="body"/>
          </p:nvPr>
        </p:nvSpPr>
        <p:spPr>
          <a:xfrm>
            <a:off x="1409700" y="4574400"/>
            <a:ext cx="4476900" cy="6192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600" b="1">
                <a:solidFill>
                  <a:srgbClr val="F2F4FF"/>
                </a:solidFill>
                <a:latin typeface="Readex Pro"/>
                <a:ea typeface="Readex Pro"/>
                <a:cs typeface="Readex Pro"/>
                <a:sym typeface="Readex Pro"/>
              </a:rPr>
              <a:t>آية «مؤيَّدة»</a:t>
            </a:r>
            <a:endParaRPr lang="ar-SA" sz="2600" b="1">
              <a:solidFill>
                <a:srgbClr val="F2F4FF"/>
              </a:solidFill>
              <a:latin typeface="Readex Pro"/>
              <a:ea typeface="Readex Pro"/>
              <a:cs typeface="Readex Pro"/>
              <a:sym typeface="Readex Pro"/>
            </a:endParaRPr>
          </a:p>
        </p:txBody>
      </p:sp>
      <p:sp>
        <p:nvSpPr>
          <p:cNvPr id="511" name="Google Shape;511;p9"/>
          <p:cNvSpPr txBox="1"/>
          <p:nvPr>
            <p:ph idx="13" type="body"/>
          </p:nvPr>
        </p:nvSpPr>
        <p:spPr>
          <a:xfrm>
            <a:off x="1409700" y="5269725"/>
            <a:ext cx="4476900" cy="7812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000" b="0">
                <a:solidFill>
                  <a:srgbClr val="8E99CC"/>
                </a:solidFill>
                <a:latin typeface="Readex Pro"/>
                <a:ea typeface="Readex Pro"/>
                <a:cs typeface="Readex Pro"/>
                <a:sym typeface="Readex Pro"/>
              </a:rPr>
              <a:t>و8 «يحتاج تحقق»</a:t>
            </a:r>
            <a:endParaRPr lang="ar-SA" sz="2000" b="0">
              <a:solidFill>
                <a:srgbClr val="8E99CC"/>
              </a:solidFill>
              <a:latin typeface="Readex Pro"/>
              <a:ea typeface="Readex Pro"/>
              <a:cs typeface="Readex Pro"/>
              <a:sym typeface="Readex Pro"/>
            </a:endParaRPr>
          </a:p>
        </p:txBody>
      </p:sp>
      <p:sp>
        <p:nvSpPr>
          <p:cNvPr id="512" name="Google Shape;512;p9"/>
          <p:cNvSpPr txBox="1"/>
          <p:nvPr>
            <p:ph idx="14" type="body"/>
          </p:nvPr>
        </p:nvSpPr>
        <p:spPr>
          <a:xfrm>
            <a:off x="12077700" y="6174625"/>
            <a:ext cx="4476900" cy="7239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400" b="1">
                <a:solidFill>
                  <a:srgbClr val="2EF2C2"/>
                </a:solidFill>
                <a:latin typeface="Readex Pro"/>
                <a:ea typeface="Readex Pro"/>
                <a:cs typeface="Readex Pro"/>
                <a:sym typeface="Readex Pro"/>
              </a:rPr>
              <a:t>3 من 31</a:t>
            </a:r>
            <a:endParaRPr lang="ar-SA" sz="4400" b="1">
              <a:solidFill>
                <a:srgbClr val="2EF2C2"/>
              </a:solidFill>
              <a:latin typeface="Readex Pro"/>
              <a:ea typeface="Readex Pro"/>
              <a:cs typeface="Readex Pro"/>
              <a:sym typeface="Readex Pro"/>
            </a:endParaRPr>
          </a:p>
        </p:txBody>
      </p:sp>
      <p:sp>
        <p:nvSpPr>
          <p:cNvPr id="513" name="Google Shape;513;p9"/>
          <p:cNvSpPr txBox="1"/>
          <p:nvPr>
            <p:ph idx="15" type="body"/>
          </p:nvPr>
        </p:nvSpPr>
        <p:spPr>
          <a:xfrm>
            <a:off x="12077700" y="7241400"/>
            <a:ext cx="4476900" cy="6192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600" b="1">
                <a:solidFill>
                  <a:srgbClr val="F2F4FF"/>
                </a:solidFill>
                <a:latin typeface="Readex Pro"/>
                <a:ea typeface="Readex Pro"/>
                <a:cs typeface="Readex Pro"/>
                <a:sym typeface="Readex Pro"/>
              </a:rPr>
              <a:t>آية بنص مختلف</a:t>
            </a:r>
            <a:endParaRPr lang="ar-SA" sz="2600" b="1">
              <a:solidFill>
                <a:srgbClr val="F2F4FF"/>
              </a:solidFill>
              <a:latin typeface="Readex Pro"/>
              <a:ea typeface="Readex Pro"/>
              <a:cs typeface="Readex Pro"/>
              <a:sym typeface="Readex Pro"/>
            </a:endParaRPr>
          </a:p>
        </p:txBody>
      </p:sp>
      <p:sp>
        <p:nvSpPr>
          <p:cNvPr id="514" name="Google Shape;514;p9"/>
          <p:cNvSpPr txBox="1"/>
          <p:nvPr>
            <p:ph idx="16" type="body"/>
          </p:nvPr>
        </p:nvSpPr>
        <p:spPr>
          <a:xfrm>
            <a:off x="12077700" y="7936725"/>
            <a:ext cx="4476900" cy="7812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000" b="0">
                <a:solidFill>
                  <a:srgbClr val="8E99CC"/>
                </a:solidFill>
                <a:latin typeface="Readex Pro"/>
                <a:ea typeface="Readex Pro"/>
                <a:cs typeface="Readex Pro"/>
                <a:sym typeface="Readex Pro"/>
              </a:rPr>
              <a:t>OFF-02 وOFF-03</a:t>
            </a:r>
            <a:endParaRPr lang="ar-SA" sz="2000" b="0">
              <a:solidFill>
                <a:srgbClr val="8E99CC"/>
              </a:solidFill>
              <a:latin typeface="Readex Pro"/>
              <a:ea typeface="Readex Pro"/>
              <a:cs typeface="Readex Pro"/>
              <a:sym typeface="Readex Pro"/>
            </a:endParaRPr>
          </a:p>
        </p:txBody>
      </p:sp>
      <p:sp>
        <p:nvSpPr>
          <p:cNvPr id="515" name="Google Shape;515;p9"/>
          <p:cNvSpPr txBox="1"/>
          <p:nvPr>
            <p:ph idx="17" type="body"/>
          </p:nvPr>
        </p:nvSpPr>
        <p:spPr>
          <a:xfrm>
            <a:off x="6743700" y="6174625"/>
            <a:ext cx="4476900" cy="7239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400" b="1">
                <a:solidFill>
                  <a:srgbClr val="2EF2C2"/>
                </a:solidFill>
                <a:latin typeface="Readex Pro"/>
                <a:ea typeface="Readex Pro"/>
                <a:cs typeface="Readex Pro"/>
                <a:sym typeface="Readex Pro"/>
              </a:rPr>
              <a:t>15 من 15</a:t>
            </a:r>
            <a:endParaRPr lang="ar-SA" sz="4400" b="1">
              <a:solidFill>
                <a:srgbClr val="2EF2C2"/>
              </a:solidFill>
              <a:latin typeface="Readex Pro"/>
              <a:ea typeface="Readex Pro"/>
              <a:cs typeface="Readex Pro"/>
              <a:sym typeface="Readex Pro"/>
            </a:endParaRPr>
          </a:p>
        </p:txBody>
      </p:sp>
      <p:sp>
        <p:nvSpPr>
          <p:cNvPr id="516" name="Google Shape;516;p9"/>
          <p:cNvSpPr txBox="1"/>
          <p:nvPr>
            <p:ph idx="18" type="body"/>
          </p:nvPr>
        </p:nvSpPr>
        <p:spPr>
          <a:xfrm>
            <a:off x="6743700" y="7241400"/>
            <a:ext cx="4476900" cy="6192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600" b="1">
                <a:solidFill>
                  <a:srgbClr val="F2F4FF"/>
                </a:solidFill>
                <a:latin typeface="Readex Pro"/>
                <a:ea typeface="Readex Pro"/>
                <a:cs typeface="Readex Pro"/>
                <a:sym typeface="Readex Pro"/>
              </a:rPr>
              <a:t>حديثاً «يحتاج تحقق»</a:t>
            </a:r>
            <a:endParaRPr lang="ar-SA" sz="2600" b="1">
              <a:solidFill>
                <a:srgbClr val="F2F4FF"/>
              </a:solidFill>
              <a:latin typeface="Readex Pro"/>
              <a:ea typeface="Readex Pro"/>
              <a:cs typeface="Readex Pro"/>
              <a:sym typeface="Readex Pro"/>
            </a:endParaRPr>
          </a:p>
        </p:txBody>
      </p:sp>
      <p:sp>
        <p:nvSpPr>
          <p:cNvPr id="517" name="Google Shape;517;p9"/>
          <p:cNvSpPr txBox="1"/>
          <p:nvPr>
            <p:ph idx="19" type="body"/>
          </p:nvPr>
        </p:nvSpPr>
        <p:spPr>
          <a:xfrm>
            <a:off x="6743700" y="7936725"/>
            <a:ext cx="4476900" cy="7812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000" b="0">
                <a:solidFill>
                  <a:srgbClr val="8E99CC"/>
                </a:solidFill>
                <a:latin typeface="Readex Pro"/>
                <a:ea typeface="Readex Pro"/>
                <a:cs typeface="Readex Pro"/>
                <a:sym typeface="Readex Pro"/>
              </a:rPr>
              <a:t>لا يعني أنه خاطئ</a:t>
            </a:r>
            <a:endParaRPr lang="ar-SA" sz="2000" b="0">
              <a:solidFill>
                <a:srgbClr val="8E99CC"/>
              </a:solidFill>
              <a:latin typeface="Readex Pro"/>
              <a:ea typeface="Readex Pro"/>
              <a:cs typeface="Readex Pro"/>
              <a:sym typeface="Readex Pro"/>
            </a:endParaRPr>
          </a:p>
        </p:txBody>
      </p:sp>
      <p:sp>
        <p:nvSpPr>
          <p:cNvPr id="518" name="Google Shape;518;p9"/>
          <p:cNvSpPr txBox="1"/>
          <p:nvPr>
            <p:ph idx="20" type="body"/>
          </p:nvPr>
        </p:nvSpPr>
        <p:spPr>
          <a:xfrm>
            <a:off x="1409700" y="6174625"/>
            <a:ext cx="4476900" cy="7239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400" b="1">
                <a:solidFill>
                  <a:srgbClr val="2EF2C2"/>
                </a:solidFill>
                <a:latin typeface="Readex Pro"/>
                <a:ea typeface="Readex Pro"/>
                <a:cs typeface="Readex Pro"/>
                <a:sym typeface="Readex Pro"/>
              </a:rPr>
              <a:t>7 من 48</a:t>
            </a:r>
            <a:endParaRPr lang="ar-SA" sz="4400" b="1">
              <a:solidFill>
                <a:srgbClr val="2EF2C2"/>
              </a:solidFill>
              <a:latin typeface="Readex Pro"/>
              <a:ea typeface="Readex Pro"/>
              <a:cs typeface="Readex Pro"/>
              <a:sym typeface="Readex Pro"/>
            </a:endParaRPr>
          </a:p>
        </p:txBody>
      </p:sp>
      <p:sp>
        <p:nvSpPr>
          <p:cNvPr id="519" name="Google Shape;519;p9"/>
          <p:cNvSpPr txBox="1"/>
          <p:nvPr>
            <p:ph idx="21" type="body"/>
          </p:nvPr>
        </p:nvSpPr>
        <p:spPr>
          <a:xfrm>
            <a:off x="1409700" y="7241400"/>
            <a:ext cx="4476900" cy="6192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600" b="1">
                <a:solidFill>
                  <a:srgbClr val="F2F4FF"/>
                </a:solidFill>
                <a:latin typeface="Readex Pro"/>
                <a:ea typeface="Readex Pro"/>
                <a:cs typeface="Readex Pro"/>
                <a:sym typeface="Readex Pro"/>
              </a:rPr>
              <a:t>إحالة لمراجعة بشرية</a:t>
            </a:r>
            <a:endParaRPr lang="ar-SA" sz="2600" b="1">
              <a:solidFill>
                <a:srgbClr val="F2F4FF"/>
              </a:solidFill>
              <a:latin typeface="Readex Pro"/>
              <a:ea typeface="Readex Pro"/>
              <a:cs typeface="Readex Pro"/>
              <a:sym typeface="Readex Pro"/>
            </a:endParaRPr>
          </a:p>
        </p:txBody>
      </p:sp>
      <p:sp>
        <p:nvSpPr>
          <p:cNvPr id="520" name="Google Shape;520;p9"/>
          <p:cNvSpPr txBox="1"/>
          <p:nvPr>
            <p:ph idx="22" type="body"/>
          </p:nvPr>
        </p:nvSpPr>
        <p:spPr>
          <a:xfrm>
            <a:off x="1409700" y="7936725"/>
            <a:ext cx="4476900" cy="7812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000" b="0">
                <a:solidFill>
                  <a:srgbClr val="8E99CC"/>
                </a:solidFill>
                <a:latin typeface="Readex Pro"/>
                <a:ea typeface="Readex Pro"/>
                <a:cs typeface="Readex Pro"/>
                <a:sym typeface="Readex Pro"/>
              </a:rPr>
              <a:t>بلا حكم آلي</a:t>
            </a:r>
            <a:endParaRPr lang="ar-SA" sz="2000" b="0">
              <a:solidFill>
                <a:srgbClr val="8E99CC"/>
              </a:solidFill>
              <a:latin typeface="Readex Pro"/>
              <a:ea typeface="Readex Pro"/>
              <a:cs typeface="Readex Pro"/>
              <a:sym typeface="Readex Pro"/>
            </a:endParaRPr>
          </a:p>
        </p:txBody>
      </p:sp>
      <p:sp>
        <p:nvSpPr>
          <p:cNvPr id="3001" name="Text 3001"/>
          <p:cNvSpPr txBox="1"/>
          <p:nvPr/>
        </p:nvSpPr>
        <p:spPr>
          <a:xfrm>
            <a:off x="1409700" y="8900000"/>
            <a:ext cx="15430500" cy="450000"/>
          </a:xfrm>
          <a:prstGeom prst="rect">
            <a:avLst/>
          </a:prstGeom>
          <a:noFill/>
          <a:ln>
            <a:noFill/>
          </a:ln>
        </p:spPr>
        <p:txBody>
          <a:bodyPr wrap="square" lIns="0" rIns="0" tIns="0" bIns="0" anchor="t" anchorCtr="0">
            <a:noAutofit/>
          </a:bodyPr>
          <a:lstStyle/>
          <a:p>
            <a:pPr marL="0" indent="0" rtl="1" algn="r">
              <a:lnSpc>
                <a:spcPct val="100000"/>
              </a:lnSpc>
              <a:spcBef>
                <a:spcPts val="0"/>
              </a:spcBef>
              <a:spcAft>
                <a:spcPts val="0"/>
              </a:spcAft>
              <a:buNone/>
            </a:pPr>
            <a:r>
              <a:rPr lang="ar-SA" sz="1800" b="0">
                <a:solidFill>
                  <a:srgbClr val="8E99CC"/>
                </a:solidFill>
                <a:latin typeface="Readex Pro"/>
                <a:ea typeface="Readex Pro"/>
                <a:cs typeface="Readex Pro"/>
                <a:sym typeface="Readex Pro"/>
              </a:rPr>
              <a:t>المصدر: صفحة النتائج وملفات evaluation/official</a:t>
            </a:r>
            <a:endParaRPr lang="ar-SA" sz="1800" b="0">
              <a:solidFill>
                <a:srgbClr val="8E99CC"/>
              </a:solidFill>
              <a:latin typeface="Readex Pro"/>
              <a:ea typeface="Readex Pro"/>
              <a:cs typeface="Readex Pro"/>
              <a:sym typeface="Readex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2EF2C2"/>
                </a:solidFill>
                <a:latin typeface="Readex Pro"/>
                <a:ea typeface="Readex Pro"/>
                <a:cs typeface="Readex Pro"/>
                <a:sym typeface="Readex Pro"/>
              </a:rPr>
              <a:t>المشكلة</a:t>
            </a:r>
            <a:endParaRPr lang="ar-SA" sz="1800" b="0">
              <a:solidFill>
                <a:srgbClr val="2EF2C2"/>
              </a:solidFill>
              <a:latin typeface="Readex Pro"/>
              <a:ea typeface="Readex Pro"/>
              <a:cs typeface="Readex Pro"/>
              <a:sym typeface="Readex Pro"/>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500" b="1">
                <a:solidFill>
                  <a:srgbClr val="F2F4FF"/>
                </a:solidFill>
                <a:latin typeface="Readex Pro"/>
                <a:ea typeface="Readex Pro"/>
                <a:cs typeface="Readex Pro"/>
                <a:sym typeface="Readex Pro"/>
              </a:rPr>
              <a:t>المساعد يُنشر قبل أن يُختبر في المحتوى الإسلامي</a:t>
            </a:r>
            <a:endParaRPr lang="ar-SA" sz="4500" b="1">
              <a:solidFill>
                <a:srgbClr val="F2F4FF"/>
              </a:solidFill>
              <a:latin typeface="Readex Pro"/>
              <a:ea typeface="Readex Pro"/>
              <a:cs typeface="Readex Pro"/>
              <a:sym typeface="Readex Pro"/>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a:t>
            </a:fld>
            <a:endParaRPr/>
          </a:p>
        </p:txBody>
      </p:sp>
      <p:sp>
        <p:nvSpPr>
          <p:cNvPr id="541" name="Google Shape;541;p11"/>
          <p:cNvSpPr txBox="1"/>
          <p:nvPr>
            <p:ph idx="3" type="body"/>
          </p:nvPr>
        </p:nvSpPr>
        <p:spPr>
          <a:xfrm>
            <a:off x="9505950" y="3552875"/>
            <a:ext cx="7334400" cy="5907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850" b="1">
                <a:solidFill>
                  <a:srgbClr val="2EF2C2"/>
                </a:solidFill>
                <a:latin typeface="Readex Pro"/>
                <a:ea typeface="Readex Pro"/>
                <a:cs typeface="Readex Pro"/>
                <a:sym typeface="Readex Pro"/>
              </a:rPr>
              <a:t>حديث مختلق</a:t>
            </a:r>
            <a:endParaRPr lang="ar-SA" sz="2850" b="1">
              <a:solidFill>
                <a:srgbClr val="2EF2C2"/>
              </a:solidFill>
              <a:latin typeface="Readex Pro"/>
              <a:ea typeface="Readex Pro"/>
              <a:cs typeface="Readex Pro"/>
              <a:sym typeface="Readex Pro"/>
            </a:endParaRPr>
          </a:p>
        </p:txBody>
      </p:sp>
      <p:sp>
        <p:nvSpPr>
          <p:cNvPr id="542" name="Google Shape;542;p11"/>
          <p:cNvSpPr txBox="1"/>
          <p:nvPr>
            <p:ph idx="4" type="body"/>
          </p:nvPr>
        </p:nvSpPr>
        <p:spPr>
          <a:xfrm>
            <a:off x="9505950" y="4257725"/>
            <a:ext cx="7334400" cy="10668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400" b="0">
                <a:solidFill>
                  <a:srgbClr val="F2F4FF"/>
                </a:solidFill>
                <a:latin typeface="Readex Pro"/>
                <a:ea typeface="Readex Pro"/>
                <a:cs typeface="Readex Pro"/>
                <a:sym typeface="Readex Pro"/>
              </a:rPr>
              <a:t>بلا مصدر معتمد</a:t>
            </a:r>
            <a:endParaRPr lang="ar-SA" sz="2400" b="0">
              <a:solidFill>
                <a:srgbClr val="F2F4FF"/>
              </a:solidFill>
              <a:latin typeface="Readex Pro"/>
              <a:ea typeface="Readex Pro"/>
              <a:cs typeface="Readex Pro"/>
              <a:sym typeface="Readex Pro"/>
            </a:endParaRPr>
          </a:p>
        </p:txBody>
      </p:sp>
      <p:sp>
        <p:nvSpPr>
          <p:cNvPr id="543" name="Google Shape;543;p11"/>
          <p:cNvSpPr txBox="1"/>
          <p:nvPr>
            <p:ph idx="5" type="body"/>
          </p:nvPr>
        </p:nvSpPr>
        <p:spPr>
          <a:xfrm>
            <a:off x="1714500" y="3552875"/>
            <a:ext cx="6953250" cy="59055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850" b="1">
                <a:solidFill>
                  <a:srgbClr val="2EF2C2"/>
                </a:solidFill>
                <a:latin typeface="Readex Pro"/>
                <a:ea typeface="Readex Pro"/>
                <a:cs typeface="Readex Pro"/>
                <a:sym typeface="Readex Pro"/>
              </a:rPr>
              <a:t>آية محرّفة</a:t>
            </a:r>
            <a:endParaRPr lang="ar-SA" sz="2850" b="1">
              <a:solidFill>
                <a:srgbClr val="2EF2C2"/>
              </a:solidFill>
              <a:latin typeface="Readex Pro"/>
              <a:ea typeface="Readex Pro"/>
              <a:cs typeface="Readex Pro"/>
              <a:sym typeface="Readex Pro"/>
            </a:endParaRPr>
          </a:p>
        </p:txBody>
      </p:sp>
      <p:sp>
        <p:nvSpPr>
          <p:cNvPr id="544" name="Google Shape;544;p11"/>
          <p:cNvSpPr txBox="1"/>
          <p:nvPr>
            <p:ph idx="6" type="body"/>
          </p:nvPr>
        </p:nvSpPr>
        <p:spPr>
          <a:xfrm>
            <a:off x="1714500" y="4257725"/>
            <a:ext cx="6953250" cy="10668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400" b="0">
                <a:solidFill>
                  <a:srgbClr val="F2F4FF"/>
                </a:solidFill>
                <a:latin typeface="Readex Pro"/>
                <a:ea typeface="Readex Pro"/>
                <a:cs typeface="Readex Pro"/>
                <a:sym typeface="Readex Pro"/>
              </a:rPr>
              <a:t>نص يخالف المصحف</a:t>
            </a:r>
            <a:endParaRPr lang="ar-SA" sz="2400" b="0">
              <a:solidFill>
                <a:srgbClr val="F2F4FF"/>
              </a:solidFill>
              <a:latin typeface="Readex Pro"/>
              <a:ea typeface="Readex Pro"/>
              <a:cs typeface="Readex Pro"/>
              <a:sym typeface="Readex Pro"/>
            </a:endParaRPr>
          </a:p>
        </p:txBody>
      </p:sp>
      <p:sp>
        <p:nvSpPr>
          <p:cNvPr id="545" name="Google Shape;545;p11"/>
          <p:cNvSpPr txBox="1"/>
          <p:nvPr>
            <p:ph idx="7" type="body"/>
          </p:nvPr>
        </p:nvSpPr>
        <p:spPr>
          <a:xfrm>
            <a:off x="9505950" y="6219875"/>
            <a:ext cx="7334400" cy="5907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850" b="1">
                <a:solidFill>
                  <a:srgbClr val="2EF2C2"/>
                </a:solidFill>
                <a:latin typeface="Readex Pro"/>
                <a:ea typeface="Readex Pro"/>
                <a:cs typeface="Readex Pro"/>
                <a:sym typeface="Readex Pro"/>
              </a:rPr>
              <a:t>فتوى في واقعة شخصية</a:t>
            </a:r>
            <a:endParaRPr lang="ar-SA" sz="2850" b="1">
              <a:solidFill>
                <a:srgbClr val="2EF2C2"/>
              </a:solidFill>
              <a:latin typeface="Readex Pro"/>
              <a:ea typeface="Readex Pro"/>
              <a:cs typeface="Readex Pro"/>
              <a:sym typeface="Readex Pro"/>
            </a:endParaRPr>
          </a:p>
        </p:txBody>
      </p:sp>
      <p:sp>
        <p:nvSpPr>
          <p:cNvPr id="546" name="Google Shape;546;p11"/>
          <p:cNvSpPr txBox="1"/>
          <p:nvPr>
            <p:ph idx="8" type="body"/>
          </p:nvPr>
        </p:nvSpPr>
        <p:spPr>
          <a:xfrm>
            <a:off x="9505950" y="6924725"/>
            <a:ext cx="7334400" cy="10668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400" b="0">
                <a:solidFill>
                  <a:srgbClr val="F2F4FF"/>
                </a:solidFill>
                <a:latin typeface="Readex Pro"/>
                <a:ea typeface="Readex Pro"/>
                <a:cs typeface="Readex Pro"/>
                <a:sym typeface="Readex Pro"/>
              </a:rPr>
              <a:t>حكم مستقل بدل الإحالة</a:t>
            </a:r>
            <a:endParaRPr lang="ar-SA" sz="2400" b="0">
              <a:solidFill>
                <a:srgbClr val="F2F4FF"/>
              </a:solidFill>
              <a:latin typeface="Readex Pro"/>
              <a:ea typeface="Readex Pro"/>
              <a:cs typeface="Readex Pro"/>
              <a:sym typeface="Readex Pro"/>
            </a:endParaRPr>
          </a:p>
        </p:txBody>
      </p:sp>
      <p:sp>
        <p:nvSpPr>
          <p:cNvPr id="547" name="Google Shape;547;p11"/>
          <p:cNvSpPr txBox="1"/>
          <p:nvPr>
            <p:ph idx="9" type="body"/>
          </p:nvPr>
        </p:nvSpPr>
        <p:spPr>
          <a:xfrm>
            <a:off x="1714500" y="6219875"/>
            <a:ext cx="6953250" cy="59055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850" b="1">
                <a:solidFill>
                  <a:srgbClr val="2EF2C2"/>
                </a:solidFill>
                <a:latin typeface="Readex Pro"/>
                <a:ea typeface="Readex Pro"/>
                <a:cs typeface="Readex Pro"/>
                <a:sym typeface="Readex Pro"/>
              </a:rPr>
              <a:t>فحص نص واحد</a:t>
            </a:r>
            <a:endParaRPr lang="ar-SA" sz="2850" b="1">
              <a:solidFill>
                <a:srgbClr val="2EF2C2"/>
              </a:solidFill>
              <a:latin typeface="Readex Pro"/>
              <a:ea typeface="Readex Pro"/>
              <a:cs typeface="Readex Pro"/>
              <a:sym typeface="Readex Pro"/>
            </a:endParaRPr>
          </a:p>
        </p:txBody>
      </p:sp>
      <p:sp>
        <p:nvSpPr>
          <p:cNvPr id="548" name="Google Shape;548;p11"/>
          <p:cNvSpPr txBox="1"/>
          <p:nvPr>
            <p:ph idx="13" type="body"/>
          </p:nvPr>
        </p:nvSpPr>
        <p:spPr>
          <a:xfrm>
            <a:off x="1714500" y="6924725"/>
            <a:ext cx="6953250" cy="10668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400" b="0">
                <a:solidFill>
                  <a:srgbClr val="F2F4FF"/>
                </a:solidFill>
                <a:latin typeface="Readex Pro"/>
                <a:ea typeface="Readex Pro"/>
                <a:cs typeface="Readex Pro"/>
                <a:sym typeface="Readex Pro"/>
              </a:rPr>
              <a:t>لا يختبر المساعد كنظام</a:t>
            </a:r>
            <a:endParaRPr lang="ar-SA" sz="2400" b="0">
              <a:solidFill>
                <a:srgbClr val="F2F4FF"/>
              </a:solidFill>
              <a:latin typeface="Readex Pro"/>
              <a:ea typeface="Readex Pro"/>
              <a:cs typeface="Readex Pro"/>
              <a:sym typeface="Readex Pro"/>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55" name="Shape 555"/>
        <p:cNvGrpSpPr/>
        <p:nvPr/>
      </p:nvGrpSpPr>
      <p:grpSpPr>
        <a:xfrm>
          <a:off x="0" y="0"/>
          <a:ext cx="0" cy="0"/>
          <a:chOff x="0" y="0"/>
          <a:chExt cx="0" cy="0"/>
        </a:xfrm>
      </p:grpSpPr>
      <p:pic>
        <p:nvPicPr>
          <p:cNvPr id="556" name="Google Shape;556;p12"/>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57" name="Google Shape;557;p12"/>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8" name="Google Shape;558;p12"/>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59" name="Google Shape;559;p12"/>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2EF2C2"/>
                </a:solidFill>
                <a:latin typeface="Readex Pro"/>
                <a:ea typeface="Readex Pro"/>
                <a:cs typeface="Readex Pro"/>
                <a:sym typeface="Readex Pro"/>
              </a:rPr>
              <a:t>المقارنة المرجعية</a:t>
            </a:r>
            <a:endParaRPr lang="ar-SA" sz="1800" b="0">
              <a:solidFill>
                <a:srgbClr val="2EF2C2"/>
              </a:solidFill>
              <a:latin typeface="Readex Pro"/>
              <a:ea typeface="Readex Pro"/>
              <a:cs typeface="Readex Pro"/>
              <a:sym typeface="Readex Pro"/>
            </a:endParaRPr>
          </a:p>
        </p:txBody>
      </p:sp>
      <p:sp>
        <p:nvSpPr>
          <p:cNvPr id="560" name="Google Shape;560;p12"/>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500" b="1">
                <a:solidFill>
                  <a:srgbClr val="F2F4FF"/>
                </a:solidFill>
                <a:latin typeface="Readex Pro"/>
                <a:ea typeface="Readex Pro"/>
                <a:cs typeface="Readex Pro"/>
                <a:sym typeface="Readex Pro"/>
              </a:rPr>
              <a:t>مساعدان بالنموذج نفسه: مباشر، ومع مصادر معتمدة</a:t>
            </a:r>
            <a:endParaRPr lang="ar-SA" sz="4500" b="1">
              <a:solidFill>
                <a:srgbClr val="F2F4FF"/>
              </a:solidFill>
              <a:latin typeface="Readex Pro"/>
              <a:ea typeface="Readex Pro"/>
              <a:cs typeface="Readex Pro"/>
              <a:sym typeface="Readex Pro"/>
            </a:endParaRPr>
          </a:p>
        </p:txBody>
      </p:sp>
      <p:sp>
        <p:nvSpPr>
          <p:cNvPr id="561" name="Google Shape;561;p1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7</a:t>
            </a:fld>
            <a:endParaRPr/>
          </a:p>
        </p:txBody>
      </p:sp>
      <p:sp>
        <p:nvSpPr>
          <p:cNvPr id="3001" name="Card baseline 3001"/>
          <p:cNvSpPr/>
          <p:nvPr/>
        </p:nvSpPr>
        <p:spPr>
          <a:xfrm>
            <a:off x="9374950" y="3300000"/>
            <a:ext cx="7465250" cy="3300000"/>
          </a:xfrm>
          <a:prstGeom prst="roundRect">
            <a:avLst>
              <a:gd name="adj" fmla="val 8059"/>
            </a:avLst>
          </a:prstGeom>
          <a:solidFill>
            <a:srgbClr val="FFFFFF">
              <a:alpha val="3920"/>
            </a:srgbClr>
          </a:solidFill>
          <a:ln w="8175">
            <a:solidFill>
              <a:srgbClr val="2EF2C2">
                <a:alpha val="12160"/>
              </a:srgbClr>
            </a:solidFill>
          </a:ln>
        </p:spPr>
        <p:txBody>
          <a:bodyPr wrap="square" lIns="300000" rIns="300000" tIns="300000" bIns="300000" anchor="ctr" anchorCtr="0">
            <a:noAutofit/>
          </a:bodyPr>
          <a:lstStyle/>
          <a:p>
            <a:pPr marL="0" indent="0" rtl="0" algn="r">
              <a:lnSpc>
                <a:spcPct val="100000"/>
              </a:lnSpc>
              <a:spcBef>
                <a:spcPts val="0"/>
              </a:spcBef>
              <a:spcAft>
                <a:spcPts val="0"/>
              </a:spcAft>
              <a:buNone/>
            </a:pPr>
            <a:r>
              <a:rPr lang="ar-SA" sz="4000" b="1">
                <a:solidFill>
                  <a:srgbClr val="2EF2C2"/>
                </a:solidFill>
                <a:latin typeface="Readex Pro"/>
                <a:ea typeface="Readex Pro"/>
                <a:cs typeface="Readex Pro"/>
                <a:sym typeface="Readex Pro"/>
              </a:rPr>
              <a:t>baseline</a:t>
            </a:r>
            <a:endParaRPr lang="ar-SA" sz="4000" b="1">
              <a:solidFill>
                <a:srgbClr val="2EF2C2"/>
              </a:solidFill>
              <a:latin typeface="Readex Pro"/>
              <a:ea typeface="Readex Pro"/>
              <a:cs typeface="Readex Pro"/>
              <a:sym typeface="Readex Pro"/>
            </a:endParaRPr>
          </a:p>
          <a:p>
            <a:pPr marL="0" indent="0" rtl="1" algn="r">
              <a:lnSpc>
                <a:spcPct val="100000"/>
              </a:lnSpc>
              <a:spcBef>
                <a:spcPts val="1400"/>
              </a:spcBef>
              <a:spcAft>
                <a:spcPts val="0"/>
              </a:spcAft>
              <a:buNone/>
            </a:pPr>
            <a:r>
              <a:rPr lang="ar-SA" sz="2850" b="1">
                <a:solidFill>
                  <a:srgbClr val="F2F4FF"/>
                </a:solidFill>
                <a:latin typeface="Readex Pro"/>
                <a:ea typeface="Readex Pro"/>
                <a:cs typeface="Readex Pro"/>
                <a:sym typeface="Readex Pro"/>
              </a:rPr>
              <a:t>يجيب مباشرة</a:t>
            </a:r>
            <a:endParaRPr lang="ar-SA" sz="2850" b="1">
              <a:solidFill>
                <a:srgbClr val="F2F4FF"/>
              </a:solidFill>
              <a:latin typeface="Readex Pro"/>
              <a:ea typeface="Readex Pro"/>
              <a:cs typeface="Readex Pro"/>
              <a:sym typeface="Readex Pro"/>
            </a:endParaRPr>
          </a:p>
          <a:p>
            <a:pPr marL="0" indent="0" rtl="0" algn="r">
              <a:lnSpc>
                <a:spcPct val="100000"/>
              </a:lnSpc>
              <a:spcBef>
                <a:spcPts val="800"/>
              </a:spcBef>
              <a:spcAft>
                <a:spcPts val="0"/>
              </a:spcAft>
              <a:buNone/>
            </a:pPr>
            <a:r>
              <a:rPr lang="ar-SA" sz="2400" b="0">
                <a:solidFill>
                  <a:srgbClr val="8E99CC"/>
                </a:solidFill>
                <a:latin typeface="Readex Pro"/>
                <a:ea typeface="Readex Pro"/>
                <a:cs typeface="Readex Pro"/>
                <a:sym typeface="Readex Pro"/>
              </a:rPr>
              <a:t>gemini-3.5-flash-lite</a:t>
            </a:r>
            <a:endParaRPr lang="ar-SA" sz="2400" b="0">
              <a:solidFill>
                <a:srgbClr val="8E99CC"/>
              </a:solidFill>
              <a:latin typeface="Readex Pro"/>
              <a:ea typeface="Readex Pro"/>
              <a:cs typeface="Readex Pro"/>
              <a:sym typeface="Readex Pro"/>
            </a:endParaRPr>
          </a:p>
        </p:txBody>
      </p:sp>
      <p:sp>
        <p:nvSpPr>
          <p:cNvPr id="3002" name="Card rag 3002"/>
          <p:cNvSpPr/>
          <p:nvPr/>
        </p:nvSpPr>
        <p:spPr>
          <a:xfrm>
            <a:off x="1409700" y="3300000"/>
            <a:ext cx="7465250" cy="3300000"/>
          </a:xfrm>
          <a:prstGeom prst="roundRect">
            <a:avLst>
              <a:gd name="adj" fmla="val 8059"/>
            </a:avLst>
          </a:prstGeom>
          <a:solidFill>
            <a:srgbClr val="FFFFFF">
              <a:alpha val="3920"/>
            </a:srgbClr>
          </a:solidFill>
          <a:ln w="8175">
            <a:solidFill>
              <a:srgbClr val="2EF2C2">
                <a:alpha val="12160"/>
              </a:srgbClr>
            </a:solidFill>
          </a:ln>
        </p:spPr>
        <p:txBody>
          <a:bodyPr wrap="square" lIns="300000" rIns="300000" tIns="300000" bIns="300000" anchor="ctr" anchorCtr="0">
            <a:noAutofit/>
          </a:bodyPr>
          <a:lstStyle/>
          <a:p>
            <a:pPr marL="0" indent="0" rtl="0" algn="r">
              <a:lnSpc>
                <a:spcPct val="100000"/>
              </a:lnSpc>
              <a:spcBef>
                <a:spcPts val="0"/>
              </a:spcBef>
              <a:spcAft>
                <a:spcPts val="0"/>
              </a:spcAft>
              <a:buNone/>
            </a:pPr>
            <a:r>
              <a:rPr lang="ar-SA" sz="4000" b="1">
                <a:solidFill>
                  <a:srgbClr val="2EF2C2"/>
                </a:solidFill>
                <a:latin typeface="Readex Pro"/>
                <a:ea typeface="Readex Pro"/>
                <a:cs typeface="Readex Pro"/>
                <a:sym typeface="Readex Pro"/>
              </a:rPr>
              <a:t>rag</a:t>
            </a:r>
            <a:endParaRPr lang="ar-SA" sz="4000" b="1">
              <a:solidFill>
                <a:srgbClr val="2EF2C2"/>
              </a:solidFill>
              <a:latin typeface="Readex Pro"/>
              <a:ea typeface="Readex Pro"/>
              <a:cs typeface="Readex Pro"/>
              <a:sym typeface="Readex Pro"/>
            </a:endParaRPr>
          </a:p>
          <a:p>
            <a:pPr marL="0" indent="0" rtl="1" algn="r">
              <a:lnSpc>
                <a:spcPct val="100000"/>
              </a:lnSpc>
              <a:spcBef>
                <a:spcPts val="1400"/>
              </a:spcBef>
              <a:spcAft>
                <a:spcPts val="0"/>
              </a:spcAft>
              <a:buNone/>
            </a:pPr>
            <a:r>
              <a:rPr lang="ar-SA" sz="2850" b="1">
                <a:solidFill>
                  <a:srgbClr val="F2F4FF"/>
                </a:solidFill>
                <a:latin typeface="Readex Pro"/>
                <a:ea typeface="Readex Pro"/>
                <a:cs typeface="Readex Pro"/>
                <a:sym typeface="Readex Pro"/>
              </a:rPr>
              <a:t>النموذج نفسه + بحث محلي</a:t>
            </a:r>
            <a:endParaRPr lang="ar-SA" sz="2850" b="1">
              <a:solidFill>
                <a:srgbClr val="F2F4FF"/>
              </a:solidFill>
              <a:latin typeface="Readex Pro"/>
              <a:ea typeface="Readex Pro"/>
              <a:cs typeface="Readex Pro"/>
              <a:sym typeface="Readex Pro"/>
            </a:endParaRPr>
          </a:p>
          <a:p>
            <a:pPr marL="0" indent="0" rtl="1" algn="r">
              <a:lnSpc>
                <a:spcPct val="100000"/>
              </a:lnSpc>
              <a:spcBef>
                <a:spcPts val="800"/>
              </a:spcBef>
              <a:spcAft>
                <a:spcPts val="0"/>
              </a:spcAft>
              <a:buNone/>
            </a:pPr>
            <a:r>
              <a:rPr lang="ar-SA" sz="2400" b="0">
                <a:solidFill>
                  <a:srgbClr val="8E99CC"/>
                </a:solidFill>
                <a:latin typeface="Readex Pro"/>
                <a:ea typeface="Readex Pro"/>
                <a:cs typeface="Readex Pro"/>
                <a:sym typeface="Readex Pro"/>
              </a:rPr>
              <a:t>آيات Quranpedia ومدخلات الأحاديث المكتملة</a:t>
            </a:r>
            <a:endParaRPr lang="ar-SA" sz="2400" b="0">
              <a:solidFill>
                <a:srgbClr val="8E99CC"/>
              </a:solidFill>
              <a:latin typeface="Readex Pro"/>
              <a:ea typeface="Readex Pro"/>
              <a:cs typeface="Readex Pro"/>
              <a:sym typeface="Readex Pro"/>
            </a:endParaRPr>
          </a:p>
        </p:txBody>
      </p:sp>
      <p:sp>
        <p:nvSpPr>
          <p:cNvPr id="3003" name="Bias note 3003"/>
          <p:cNvSpPr/>
          <p:nvPr/>
        </p:nvSpPr>
        <p:spPr>
          <a:xfrm>
            <a:off x="1409700" y="7000000"/>
            <a:ext cx="15430500" cy="1350000"/>
          </a:xfrm>
          <a:prstGeom prst="roundRect">
            <a:avLst>
              <a:gd name="adj" fmla="val 8059"/>
            </a:avLst>
          </a:prstGeom>
          <a:solidFill>
            <a:srgbClr val="6150EA">
              <a:alpha val="22000"/>
            </a:srgbClr>
          </a:solidFill>
          <a:ln w="8175">
            <a:solidFill>
              <a:srgbClr val="6150EA"/>
            </a:solidFill>
          </a:ln>
        </p:spPr>
        <p:txBody>
          <a:bodyPr wrap="square" lIns="250000" rIns="250000" tIns="250000" bIns="250000" anchor="ctr" anchorCtr="0">
            <a:noAutofit/>
          </a:bodyPr>
          <a:lstStyle/>
          <a:p>
            <a:pPr marL="0" indent="0" rtl="1" algn="r">
              <a:lnSpc>
                <a:spcPct val="100000"/>
              </a:lnSpc>
              <a:spcBef>
                <a:spcPts val="0"/>
              </a:spcBef>
              <a:spcAft>
                <a:spcPts val="0"/>
              </a:spcAft>
              <a:buNone/>
            </a:pPr>
            <a:r>
              <a:rPr lang="ar-SA" sz="2400" b="1">
                <a:solidFill>
                  <a:srgbClr val="F2F4FF"/>
                </a:solidFill>
                <a:latin typeface="Readex Pro"/>
                <a:ea typeface="Readex Pro"/>
                <a:cs typeface="Readex Pro"/>
                <a:sym typeface="Readex Pro"/>
              </a:rPr>
              <a:t>تنبيه: المقارنة تميل لصالح rag؛ مدخلات الأحاديث أُعدّت للحالات نفسها.</a:t>
            </a:r>
            <a:endParaRPr lang="ar-SA" sz="2400" b="1">
              <a:solidFill>
                <a:srgbClr val="F2F4FF"/>
              </a:solidFill>
              <a:latin typeface="Readex Pro"/>
              <a:ea typeface="Readex Pro"/>
              <a:cs typeface="Readex Pro"/>
              <a:sym typeface="Readex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2EF2C2"/>
                </a:solidFill>
                <a:latin typeface="Readex Pro"/>
                <a:ea typeface="Readex Pro"/>
                <a:cs typeface="Readex Pro"/>
                <a:sym typeface="Readex Pro"/>
              </a:rPr>
              <a:t>قرار البوابة</a:t>
            </a:r>
            <a:endParaRPr lang="ar-SA" sz="1800" b="0">
              <a:solidFill>
                <a:srgbClr val="2EF2C2"/>
              </a:solidFill>
              <a:latin typeface="Readex Pro"/>
              <a:ea typeface="Readex Pro"/>
              <a:cs typeface="Readex Pro"/>
              <a:sym typeface="Readex Pro"/>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500" b="1">
                <a:solidFill>
                  <a:srgbClr val="F2F4FF"/>
                </a:solidFill>
                <a:latin typeface="Readex Pro"/>
                <a:ea typeface="Readex Pro"/>
                <a:cs typeface="Readex Pro"/>
                <a:sym typeface="Readex Pro"/>
              </a:rPr>
              <a:t>البوابة منعت rag-2، والقرار حساس للجولة المرجعية</a:t>
            </a:r>
            <a:endParaRPr lang="ar-SA" sz="4500" b="1">
              <a:solidFill>
                <a:srgbClr val="F2F4FF"/>
              </a:solidFill>
              <a:latin typeface="Readex Pro"/>
              <a:ea typeface="Readex Pro"/>
              <a:cs typeface="Readex Pro"/>
              <a:sym typeface="Readex Pro"/>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400" b="0">
                <a:solidFill>
                  <a:srgbClr val="8E99CC"/>
                </a:solidFill>
                <a:latin typeface="Readex Pro"/>
                <a:ea typeface="Readex Pro"/>
                <a:cs typeface="Readex Pro"/>
                <a:sym typeface="Readex Pro"/>
              </a:rPr>
              <a:t>المرشحة rag-2 مقابل المرجع baseline-3</a:t>
            </a:r>
            <a:endParaRPr lang="ar-SA" sz="2400" b="0">
              <a:solidFill>
                <a:srgbClr val="8E99CC"/>
              </a:solidFill>
              <a:latin typeface="Readex Pro"/>
              <a:ea typeface="Readex Pro"/>
              <a:cs typeface="Readex Pro"/>
              <a:sym typeface="Readex Pro"/>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9</a:t>
            </a:fld>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ctr" bIns="0" lIns="0" spcFirstLastPara="1" rIns="0" wrap="square" tIns="0">
            <a:noAutofit/>
          </a:bodyPr>
          <a:lstStyle/>
          <a:p>
            <a:pPr marL="0" indent="0" rtl="1" algn="ctr">
              <a:lnSpc>
                <a:spcPct val="100000"/>
              </a:lnSpc>
              <a:spcBef>
                <a:spcPts val="0"/>
              </a:spcBef>
              <a:spcAft>
                <a:spcPts val="0"/>
              </a:spcAft>
              <a:buNone/>
            </a:pPr>
            <a:r>
              <a:rPr lang="ar-SA" sz="7050" b="1">
                <a:solidFill>
                  <a:srgbClr val="2EF2C2"/>
                </a:solidFill>
                <a:latin typeface="Readex Pro"/>
                <a:ea typeface="Readex Pro"/>
                <a:cs typeface="Readex Pro"/>
                <a:sym typeface="Readex Pro"/>
              </a:rPr>
              <a:t>منع</a:t>
            </a:r>
            <a:endParaRPr lang="ar-SA" sz="7050" b="1">
              <a:solidFill>
                <a:srgbClr val="2EF2C2"/>
              </a:solidFill>
              <a:latin typeface="Readex Pro"/>
              <a:ea typeface="Readex Pro"/>
              <a:cs typeface="Readex Pro"/>
              <a:sym typeface="Readex Pro"/>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300" b="1">
                <a:solidFill>
                  <a:srgbClr val="F2F4FF"/>
                </a:solidFill>
                <a:latin typeface="Readex Pro"/>
                <a:ea typeface="Readex Pro"/>
                <a:cs typeface="Readex Pro"/>
                <a:sym typeface="Readex Pro"/>
              </a:rPr>
              <a:t>قرار البوابة</a:t>
            </a:r>
            <a:endParaRPr lang="ar-SA" sz="2300" b="1">
              <a:solidFill>
                <a:srgbClr val="F2F4FF"/>
              </a:solidFill>
              <a:latin typeface="Readex Pro"/>
              <a:ea typeface="Readex Pro"/>
              <a:cs typeface="Readex Pro"/>
              <a:sym typeface="Readex Pro"/>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marL="0" indent="0" rtl="1" algn="ctr">
              <a:lnSpc>
                <a:spcPct val="110000"/>
              </a:lnSpc>
              <a:spcBef>
                <a:spcPts val="0"/>
              </a:spcBef>
              <a:spcAft>
                <a:spcPts val="0"/>
              </a:spcAft>
              <a:buNone/>
            </a:pPr>
            <a:r>
              <a:rPr lang="ar-SA" sz="1800" b="0">
                <a:solidFill>
                  <a:srgbClr val="8E99CC"/>
                </a:solidFill>
                <a:latin typeface="Readex Pro"/>
                <a:ea typeface="Readex Pro"/>
                <a:cs typeface="Readex Pro"/>
                <a:sym typeface="Readex Pro"/>
              </a:rPr>
              <a:t>قاعدة مكتوبة</a:t>
            </a:r>
            <a:endParaRPr lang="ar-SA" sz="1800" b="0">
              <a:solidFill>
                <a:srgbClr val="8E99CC"/>
              </a:solidFill>
              <a:latin typeface="Readex Pro"/>
              <a:ea typeface="Readex Pro"/>
              <a:cs typeface="Readex Pro"/>
              <a:sym typeface="Readex Pro"/>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ctr" bIns="0" lIns="0" spcFirstLastPara="1" rIns="0" wrap="square" tIns="0">
            <a:noAutofit/>
          </a:bodyPr>
          <a:lstStyle/>
          <a:p>
            <a:pPr marL="0" indent="0" rtl="1" algn="ctr">
              <a:lnSpc>
                <a:spcPct val="100000"/>
              </a:lnSpc>
              <a:spcBef>
                <a:spcPts val="0"/>
              </a:spcBef>
              <a:spcAft>
                <a:spcPts val="0"/>
              </a:spcAft>
              <a:buNone/>
            </a:pPr>
            <a:r>
              <a:rPr lang="ar-SA" sz="7050" b="1">
                <a:solidFill>
                  <a:srgbClr val="2EF2C2"/>
                </a:solidFill>
                <a:latin typeface="Readex Pro"/>
                <a:ea typeface="Readex Pro"/>
                <a:cs typeface="Readex Pro"/>
                <a:sym typeface="Readex Pro"/>
              </a:rPr>
              <a:t>83.3</a:t>
            </a:r>
            <a:endParaRPr lang="ar-SA" sz="7050" b="1">
              <a:solidFill>
                <a:srgbClr val="2EF2C2"/>
              </a:solidFill>
              <a:latin typeface="Readex Pro"/>
              <a:ea typeface="Readex Pro"/>
              <a:cs typeface="Readex Pro"/>
              <a:sym typeface="Readex Pro"/>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300" b="1">
                <a:solidFill>
                  <a:srgbClr val="F2F4FF"/>
                </a:solidFill>
                <a:latin typeface="Readex Pro"/>
                <a:ea typeface="Readex Pro"/>
                <a:cs typeface="Readex Pro"/>
                <a:sym typeface="Readex Pro"/>
              </a:rPr>
              <a:t>المستوى A</a:t>
            </a:r>
            <a:endParaRPr lang="ar-SA" sz="2300" b="1">
              <a:solidFill>
                <a:srgbClr val="F2F4FF"/>
              </a:solidFill>
              <a:latin typeface="Readex Pro"/>
              <a:ea typeface="Readex Pro"/>
              <a:cs typeface="Readex Pro"/>
              <a:sym typeface="Readex Pro"/>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marL="0" indent="0" rtl="1" algn="ctr">
              <a:lnSpc>
                <a:spcPct val="110000"/>
              </a:lnSpc>
              <a:spcBef>
                <a:spcPts val="0"/>
              </a:spcBef>
              <a:spcAft>
                <a:spcPts val="0"/>
              </a:spcAft>
              <a:buNone/>
            </a:pPr>
            <a:r>
              <a:rPr lang="ar-SA" sz="1800" b="0">
                <a:solidFill>
                  <a:srgbClr val="8E99CC"/>
                </a:solidFill>
                <a:latin typeface="Readex Pro"/>
                <a:ea typeface="Readex Pro"/>
                <a:cs typeface="Readex Pro"/>
                <a:sym typeface="Readex Pro"/>
              </a:rPr>
              <a:t>المرجع 100.0 · محتسب 2 مقابل 1</a:t>
            </a:r>
            <a:endParaRPr lang="ar-SA" sz="1800" b="0">
              <a:solidFill>
                <a:srgbClr val="8E99CC"/>
              </a:solidFill>
              <a:latin typeface="Readex Pro"/>
              <a:ea typeface="Readex Pro"/>
              <a:cs typeface="Readex Pro"/>
              <a:sym typeface="Readex Pro"/>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ctr" bIns="0" lIns="0" spcFirstLastPara="1" rIns="0" wrap="square" tIns="0">
            <a:noAutofit/>
          </a:bodyPr>
          <a:lstStyle/>
          <a:p>
            <a:pPr marL="0" indent="0" rtl="1" algn="ctr">
              <a:lnSpc>
                <a:spcPct val="100000"/>
              </a:lnSpc>
              <a:spcBef>
                <a:spcPts val="0"/>
              </a:spcBef>
              <a:spcAft>
                <a:spcPts val="0"/>
              </a:spcAft>
              <a:buNone/>
            </a:pPr>
            <a:r>
              <a:rPr lang="ar-SA" sz="7050" b="1">
                <a:solidFill>
                  <a:srgbClr val="2EF2C2"/>
                </a:solidFill>
                <a:latin typeface="Readex Pro"/>
                <a:ea typeface="Readex Pro"/>
                <a:cs typeface="Readex Pro"/>
                <a:sym typeface="Readex Pro"/>
              </a:rPr>
              <a:t>54.0</a:t>
            </a:r>
            <a:endParaRPr lang="ar-SA" sz="7050" b="1">
              <a:solidFill>
                <a:srgbClr val="2EF2C2"/>
              </a:solidFill>
              <a:latin typeface="Readex Pro"/>
              <a:ea typeface="Readex Pro"/>
              <a:cs typeface="Readex Pro"/>
              <a:sym typeface="Readex Pro"/>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300" b="1">
                <a:solidFill>
                  <a:srgbClr val="F2F4FF"/>
                </a:solidFill>
                <a:latin typeface="Readex Pro"/>
                <a:ea typeface="Readex Pro"/>
                <a:cs typeface="Readex Pro"/>
                <a:sym typeface="Readex Pro"/>
              </a:rPr>
              <a:t>المستوى B</a:t>
            </a:r>
            <a:endParaRPr lang="ar-SA" sz="2300" b="1">
              <a:solidFill>
                <a:srgbClr val="F2F4FF"/>
              </a:solidFill>
              <a:latin typeface="Readex Pro"/>
              <a:ea typeface="Readex Pro"/>
              <a:cs typeface="Readex Pro"/>
              <a:sym typeface="Readex Pro"/>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marL="0" indent="0" rtl="1" algn="ctr">
              <a:lnSpc>
                <a:spcPct val="110000"/>
              </a:lnSpc>
              <a:spcBef>
                <a:spcPts val="0"/>
              </a:spcBef>
              <a:spcAft>
                <a:spcPts val="0"/>
              </a:spcAft>
              <a:buNone/>
            </a:pPr>
            <a:r>
              <a:rPr lang="ar-SA" sz="1800" b="0">
                <a:solidFill>
                  <a:srgbClr val="8E99CC"/>
                </a:solidFill>
                <a:latin typeface="Readex Pro"/>
                <a:ea typeface="Readex Pro"/>
                <a:cs typeface="Readex Pro"/>
                <a:sym typeface="Readex Pro"/>
              </a:rPr>
              <a:t>المرجع 54.3 · محتسب 8 مقابل 7</a:t>
            </a:r>
            <a:endParaRPr lang="ar-SA" sz="1800" b="0">
              <a:solidFill>
                <a:srgbClr val="8E99CC"/>
              </a:solidFill>
              <a:latin typeface="Readex Pro"/>
              <a:ea typeface="Readex Pro"/>
              <a:cs typeface="Readex Pro"/>
              <a:sym typeface="Readex Pro"/>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ctr" bIns="0" lIns="0" spcFirstLastPara="1" rIns="0" wrap="square" tIns="0">
            <a:noAutofit/>
          </a:bodyPr>
          <a:lstStyle/>
          <a:p>
            <a:pPr marL="0" indent="0" rtl="1" algn="ctr">
              <a:lnSpc>
                <a:spcPct val="100000"/>
              </a:lnSpc>
              <a:spcBef>
                <a:spcPts val="0"/>
              </a:spcBef>
              <a:spcAft>
                <a:spcPts val="0"/>
              </a:spcAft>
              <a:buNone/>
            </a:pPr>
            <a:r>
              <a:rPr lang="ar-SA" sz="7050" b="1">
                <a:solidFill>
                  <a:srgbClr val="2EF2C2"/>
                </a:solidFill>
                <a:latin typeface="Readex Pro"/>
                <a:ea typeface="Readex Pro"/>
                <a:cs typeface="Readex Pro"/>
                <a:sym typeface="Readex Pro"/>
              </a:rPr>
              <a:t>56.1</a:t>
            </a:r>
            <a:endParaRPr lang="ar-SA" sz="7050" b="1">
              <a:solidFill>
                <a:srgbClr val="2EF2C2"/>
              </a:solidFill>
              <a:latin typeface="Readex Pro"/>
              <a:ea typeface="Readex Pro"/>
              <a:cs typeface="Readex Pro"/>
              <a:sym typeface="Readex Pro"/>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300" b="1">
                <a:solidFill>
                  <a:srgbClr val="F2F4FF"/>
                </a:solidFill>
                <a:latin typeface="Readex Pro"/>
                <a:ea typeface="Readex Pro"/>
                <a:cs typeface="Readex Pro"/>
                <a:sym typeface="Readex Pro"/>
              </a:rPr>
              <a:t>الدرجة الكلية</a:t>
            </a:r>
            <a:endParaRPr lang="ar-SA" sz="2300" b="1">
              <a:solidFill>
                <a:srgbClr val="F2F4FF"/>
              </a:solidFill>
              <a:latin typeface="Readex Pro"/>
              <a:ea typeface="Readex Pro"/>
              <a:cs typeface="Readex Pro"/>
              <a:sym typeface="Readex Pro"/>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marL="0" indent="0" rtl="1" algn="ctr">
              <a:lnSpc>
                <a:spcPct val="110000"/>
              </a:lnSpc>
              <a:spcBef>
                <a:spcPts val="0"/>
              </a:spcBef>
              <a:spcAft>
                <a:spcPts val="0"/>
              </a:spcAft>
              <a:buNone/>
            </a:pPr>
            <a:r>
              <a:rPr lang="ar-SA" sz="1800" b="0">
                <a:solidFill>
                  <a:srgbClr val="8E99CC"/>
                </a:solidFill>
                <a:latin typeface="Readex Pro"/>
                <a:ea typeface="Readex Pro"/>
                <a:cs typeface="Readex Pro"/>
                <a:sym typeface="Readex Pro"/>
              </a:rPr>
              <a:t>المرجع 53.3 · محتسب 12 مقابل 9</a:t>
            </a:r>
            <a:endParaRPr lang="ar-SA" sz="1800" b="0">
              <a:solidFill>
                <a:srgbClr val="8E99CC"/>
              </a:solidFill>
              <a:latin typeface="Readex Pro"/>
              <a:ea typeface="Readex Pro"/>
              <a:cs typeface="Readex Pro"/>
              <a:sym typeface="Readex Pro"/>
            </a:endParaRPr>
          </a:p>
        </p:txBody>
      </p:sp>
      <p:sp>
        <p:nvSpPr>
          <p:cNvPr id="620" name="Google Shape;620;p15"/>
          <p:cNvSpPr txBox="1"/>
          <p:nvPr>
            <p:ph idx="18" type="body"/>
          </p:nvPr>
        </p:nvSpPr>
        <p:spPr>
          <a:xfrm>
            <a:off x="1409700" y="8350000"/>
            <a:ext cx="15430500" cy="9000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8E99CC"/>
                </a:solidFill>
                <a:latin typeface="Readex Pro"/>
                <a:ea typeface="Readex Pro"/>
                <a:cs typeface="Readex Pro"/>
                <a:sym typeface="Readex Pro"/>
              </a:rPr>
              <a:t>الكليتان غير متكافئتين، ومنعتها أيضاً مقابل baseline-1 وbaseline-2.</a:t>
            </a:r>
            <a:endParaRPr lang="ar-SA" sz="1800" b="0">
              <a:solidFill>
                <a:srgbClr val="8E99CC"/>
              </a:solidFill>
              <a:latin typeface="Readex Pro"/>
              <a:ea typeface="Readex Pro"/>
              <a:cs typeface="Readex Pro"/>
              <a:sym typeface="Readex Pro"/>
            </a:endParaRPr>
          </a:p>
          <a:p>
            <a:pPr marL="0" indent="0" rtl="1" algn="r">
              <a:lnSpc>
                <a:spcPct val="100000"/>
              </a:lnSpc>
              <a:spcBef>
                <a:spcPts val="0"/>
              </a:spcBef>
              <a:spcAft>
                <a:spcPts val="0"/>
              </a:spcAft>
              <a:buNone/>
            </a:pPr>
            <a:r>
              <a:rPr lang="ar-SA" sz="1800" b="0">
                <a:solidFill>
                  <a:srgbClr val="8E99CC"/>
                </a:solidFill>
                <a:latin typeface="Readex Pro"/>
                <a:ea typeface="Readex Pro"/>
                <a:cs typeface="Readex Pro"/>
                <a:sym typeface="Readex Pro"/>
              </a:rPr>
              <a:t>المصدر: web/data/results.json</a:t>
            </a:r>
            <a:endParaRPr lang="ar-SA" sz="1800" b="0">
              <a:solidFill>
                <a:srgbClr val="8E99CC"/>
              </a:solidFill>
              <a:latin typeface="Readex Pro"/>
              <a:ea typeface="Readex Pro"/>
              <a:cs typeface="Readex Pro"/>
              <a:sym typeface="Readex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2EF2C2"/>
                </a:solidFill>
                <a:latin typeface="Readex Pro"/>
                <a:ea typeface="Readex Pro"/>
                <a:cs typeface="Readex Pro"/>
                <a:sym typeface="Readex Pro"/>
              </a:rPr>
              <a:t>المصادر</a:t>
            </a:r>
            <a:endParaRPr lang="ar-SA" sz="1800" b="0">
              <a:solidFill>
                <a:srgbClr val="2EF2C2"/>
              </a:solidFill>
              <a:latin typeface="Readex Pro"/>
              <a:ea typeface="Readex Pro"/>
              <a:cs typeface="Readex Pro"/>
              <a:sym typeface="Readex Pro"/>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500" b="1">
                <a:solidFill>
                  <a:srgbClr val="F2F4FF"/>
                </a:solidFill>
                <a:latin typeface="Readex Pro"/>
                <a:ea typeface="Readex Pro"/>
                <a:cs typeface="Readex Pro"/>
                <a:sym typeface="Readex Pro"/>
              </a:rPr>
              <a:t>كل نص شرعي منقول من مصدر محدد</a:t>
            </a:r>
            <a:endParaRPr lang="ar-SA" sz="4500" b="1">
              <a:solidFill>
                <a:srgbClr val="F2F4FF"/>
              </a:solidFill>
              <a:latin typeface="Readex Pro"/>
              <a:ea typeface="Readex Pro"/>
              <a:cs typeface="Readex Pro"/>
              <a:sym typeface="Readex Pro"/>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6</a:t>
            </a:fld>
            <a:endParaRPr/>
          </a:p>
        </p:txBody>
      </p:sp>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8E99CC"/>
                </a:solidFill>
                <a:latin typeface="Readex Pro"/>
                <a:ea typeface="Readex Pro"/>
                <a:cs typeface="Readex Pro"/>
                <a:sym typeface="Readex Pro"/>
              </a:rPr>
              <a:t>المصادر: SOURCES_LICENSES.md · data/hadith/manual_hadith.json</a:t>
            </a:r>
            <a:endParaRPr lang="ar-SA" sz="1800" b="0">
              <a:solidFill>
                <a:srgbClr val="8E99CC"/>
              </a:solidFill>
              <a:latin typeface="Readex Pro"/>
              <a:ea typeface="Readex Pro"/>
              <a:cs typeface="Readex Pro"/>
              <a:sym typeface="Readex Pro"/>
            </a:endParaRPr>
          </a:p>
        </p:txBody>
      </p:sp>
      <p:graphicFrame>
        <p:nvGraphicFramePr>
          <p:cNvPr id="3001" name="Table 3001"/>
          <p:cNvGraphicFramePr>
            <a:graphicFrameLocks noGrp="1"/>
          </p:cNvGraphicFramePr>
          <p:nvPr/>
        </p:nvGraphicFramePr>
        <p:xfrm>
          <a:off x="1409700" y="3800000"/>
          <a:ext cx="15430500" cy="3750000"/>
        </p:xfrm>
        <a:graphic>
          <a:graphicData uri="http://schemas.openxmlformats.org/drawingml/2006/table">
            <a:tbl>
              <a:tblPr firstRow="1" bandRow="1">
                <a:noFill/>
              </a:tblPr>
              <a:tblGrid>
                <a:gridCol w="6230500"/>
                <a:gridCol w="6600000"/>
                <a:gridCol w="2600000"/>
              </a:tblGrid>
              <a:tr h="750000">
                <a:tc>
                  <a:txBody>
                    <a:bodyPr/>
                    <a:lstStyle/>
                    <a:p>
                      <a:pPr marL="0" indent="0" rtl="1" algn="r">
                        <a:lnSpc>
                          <a:spcPct val="100000"/>
                        </a:lnSpc>
                        <a:spcBef>
                          <a:spcPts val="0"/>
                        </a:spcBef>
                        <a:spcAft>
                          <a:spcPts val="0"/>
                        </a:spcAft>
                        <a:buNone/>
                      </a:pPr>
                      <a:r>
                        <a:rPr lang="ar-SA" sz="2200" b="1">
                          <a:solidFill>
                            <a:srgbClr val="2EF2C2"/>
                          </a:solidFill>
                          <a:latin typeface="Readex Pro"/>
                          <a:ea typeface="Readex Pro"/>
                          <a:cs typeface="Readex Pro"/>
                          <a:sym typeface="Readex Pro"/>
                        </a:rPr>
                        <a:t>كيف يُتحقق</a:t>
                      </a:r>
                      <a:endParaRPr lang="ar-SA" sz="2200" b="1">
                        <a:solidFill>
                          <a:srgbClr val="2EF2C2"/>
                        </a:solidFill>
                        <a:latin typeface="Readex Pro"/>
                        <a:ea typeface="Readex Pro"/>
                        <a:cs typeface="Readex Pro"/>
                        <a:sym typeface="Readex Pro"/>
                      </a:endParaRPr>
                    </a:p>
                  </a:txBody>
                  <a:tcPr marL="91450" marR="91450" marT="45725" marB="45725" anchor="ctr">
                    <a:lnL w="9525">
                      <a:solidFill>
                        <a:srgbClr val="323D68"/>
                      </a:solidFill>
                    </a:lnL>
                    <a:lnR w="9525">
                      <a:solidFill>
                        <a:srgbClr val="323D68"/>
                      </a:solidFill>
                    </a:lnR>
                    <a:lnT w="9525">
                      <a:solidFill>
                        <a:srgbClr val="323D68"/>
                      </a:solidFill>
                    </a:lnT>
                    <a:lnB w="9525">
                      <a:solidFill>
                        <a:srgbClr val="323D68"/>
                      </a:solidFill>
                    </a:lnB>
                    <a:solidFill>
                      <a:srgbClr val="242759"/>
                    </a:solidFill>
                  </a:tcPr>
                </a:tc>
                <a:tc>
                  <a:txBody>
                    <a:bodyPr/>
                    <a:lstStyle/>
                    <a:p>
                      <a:pPr marL="0" indent="0" rtl="1" algn="r">
                        <a:lnSpc>
                          <a:spcPct val="100000"/>
                        </a:lnSpc>
                        <a:spcBef>
                          <a:spcPts val="0"/>
                        </a:spcBef>
                        <a:spcAft>
                          <a:spcPts val="0"/>
                        </a:spcAft>
                        <a:buNone/>
                      </a:pPr>
                      <a:r>
                        <a:rPr lang="ar-SA" sz="2200" b="1">
                          <a:solidFill>
                            <a:srgbClr val="2EF2C2"/>
                          </a:solidFill>
                          <a:latin typeface="Readex Pro"/>
                          <a:ea typeface="Readex Pro"/>
                          <a:cs typeface="Readex Pro"/>
                          <a:sym typeface="Readex Pro"/>
                        </a:rPr>
                        <a:t>المصدر</a:t>
                      </a:r>
                      <a:endParaRPr lang="ar-SA" sz="2200" b="1">
                        <a:solidFill>
                          <a:srgbClr val="2EF2C2"/>
                        </a:solidFill>
                        <a:latin typeface="Readex Pro"/>
                        <a:ea typeface="Readex Pro"/>
                        <a:cs typeface="Readex Pro"/>
                        <a:sym typeface="Readex Pro"/>
                      </a:endParaRPr>
                    </a:p>
                  </a:txBody>
                  <a:tcPr marL="91450" marR="91450" marT="45725" marB="45725" anchor="ctr">
                    <a:lnL w="9525">
                      <a:solidFill>
                        <a:srgbClr val="323D68"/>
                      </a:solidFill>
                    </a:lnL>
                    <a:lnR w="9525">
                      <a:solidFill>
                        <a:srgbClr val="323D68"/>
                      </a:solidFill>
                    </a:lnR>
                    <a:lnT w="9525">
                      <a:solidFill>
                        <a:srgbClr val="323D68"/>
                      </a:solidFill>
                    </a:lnT>
                    <a:lnB w="9525">
                      <a:solidFill>
                        <a:srgbClr val="323D68"/>
                      </a:solidFill>
                    </a:lnB>
                    <a:solidFill>
                      <a:srgbClr val="242759"/>
                    </a:solidFill>
                  </a:tcPr>
                </a:tc>
                <a:tc>
                  <a:txBody>
                    <a:bodyPr/>
                    <a:lstStyle/>
                    <a:p>
                      <a:pPr marL="0" indent="0" rtl="1" algn="r">
                        <a:lnSpc>
                          <a:spcPct val="100000"/>
                        </a:lnSpc>
                        <a:spcBef>
                          <a:spcPts val="0"/>
                        </a:spcBef>
                        <a:spcAft>
                          <a:spcPts val="0"/>
                        </a:spcAft>
                        <a:buNone/>
                      </a:pPr>
                      <a:r>
                        <a:rPr lang="ar-SA" sz="2200" b="1">
                          <a:solidFill>
                            <a:srgbClr val="2EF2C2"/>
                          </a:solidFill>
                          <a:latin typeface="Readex Pro"/>
                          <a:ea typeface="Readex Pro"/>
                          <a:cs typeface="Readex Pro"/>
                          <a:sym typeface="Readex Pro"/>
                        </a:rPr>
                        <a:t>النوع</a:t>
                      </a:r>
                      <a:endParaRPr lang="ar-SA" sz="2200" b="1">
                        <a:solidFill>
                          <a:srgbClr val="2EF2C2"/>
                        </a:solidFill>
                        <a:latin typeface="Readex Pro"/>
                        <a:ea typeface="Readex Pro"/>
                        <a:cs typeface="Readex Pro"/>
                        <a:sym typeface="Readex Pro"/>
                      </a:endParaRPr>
                    </a:p>
                  </a:txBody>
                  <a:tcPr marL="91450" marR="91450" marT="45725" marB="45725" anchor="ctr">
                    <a:lnL w="9525">
                      <a:solidFill>
                        <a:srgbClr val="323D68"/>
                      </a:solidFill>
                    </a:lnL>
                    <a:lnR w="9525">
                      <a:solidFill>
                        <a:srgbClr val="323D68"/>
                      </a:solidFill>
                    </a:lnR>
                    <a:lnT w="9525">
                      <a:solidFill>
                        <a:srgbClr val="323D68"/>
                      </a:solidFill>
                    </a:lnT>
                    <a:lnB w="9525">
                      <a:solidFill>
                        <a:srgbClr val="323D68"/>
                      </a:solidFill>
                    </a:lnB>
                    <a:solidFill>
                      <a:srgbClr val="242759"/>
                    </a:solidFill>
                  </a:tcPr>
                </a:tc>
              </a:tr>
              <a:tr h="1000000">
                <a:tc>
                  <a:txBody>
                    <a:bodyPr/>
                    <a:lstStyle/>
                    <a:p>
                      <a:pPr marL="0" indent="0" rtl="1" algn="r">
                        <a:lnSpc>
                          <a:spcPct val="100000"/>
                        </a:lnSpc>
                        <a:spcBef>
                          <a:spcPts val="0"/>
                        </a:spcBef>
                        <a:spcAft>
                          <a:spcPts val="0"/>
                        </a:spcAft>
                        <a:buNone/>
                      </a:pPr>
                      <a:r>
                        <a:rPr lang="ar-SA" sz="2200" b="0">
                          <a:solidFill>
                            <a:srgbClr val="F2F4FF"/>
                          </a:solidFill>
                          <a:latin typeface="Readex Pro"/>
                          <a:ea typeface="Readex Pro"/>
                          <a:cs typeface="Readex Pro"/>
                          <a:sym typeface="Readex Pro"/>
                        </a:rPr>
                        <a:t>مطابقة حرفية برمجية</a:t>
                      </a:r>
                      <a:endParaRPr lang="ar-SA" sz="2200" b="0">
                        <a:solidFill>
                          <a:srgbClr val="F2F4FF"/>
                        </a:solidFill>
                        <a:latin typeface="Readex Pro"/>
                        <a:ea typeface="Readex Pro"/>
                        <a:cs typeface="Readex Pro"/>
                        <a:sym typeface="Readex Pro"/>
                      </a:endParaRPr>
                    </a:p>
                  </a:txBody>
                  <a:tcPr marL="91450" marR="91450" marT="45725" marB="45725" anchor="ctr">
                    <a:lnL w="9525">
                      <a:solidFill>
                        <a:srgbClr val="323D68"/>
                      </a:solidFill>
                    </a:lnL>
                    <a:lnR w="9525">
                      <a:solidFill>
                        <a:srgbClr val="323D68"/>
                      </a:solidFill>
                    </a:lnR>
                    <a:lnT w="9525">
                      <a:solidFill>
                        <a:srgbClr val="323D68"/>
                      </a:solidFill>
                    </a:lnT>
                    <a:lnB w="9525">
                      <a:solidFill>
                        <a:srgbClr val="323D68"/>
                      </a:solidFill>
                    </a:lnB>
                    <a:solidFill>
                      <a:srgbClr val="161D48"/>
                    </a:solidFill>
                  </a:tcPr>
                </a:tc>
                <a:tc>
                  <a:txBody>
                    <a:bodyPr/>
                    <a:lstStyle/>
                    <a:p>
                      <a:pPr marL="0" indent="0" rtl="1" algn="r">
                        <a:lnSpc>
                          <a:spcPct val="100000"/>
                        </a:lnSpc>
                        <a:spcBef>
                          <a:spcPts val="0"/>
                        </a:spcBef>
                        <a:spcAft>
                          <a:spcPts val="0"/>
                        </a:spcAft>
                        <a:buNone/>
                      </a:pPr>
                      <a:r>
                        <a:rPr lang="ar-SA" sz="2200" b="0">
                          <a:solidFill>
                            <a:srgbClr val="F2F4FF"/>
                          </a:solidFill>
                          <a:latin typeface="Readex Pro"/>
                          <a:ea typeface="Readex Pro"/>
                          <a:cs typeface="Readex Pro"/>
                          <a:sym typeface="Readex Pro"/>
                        </a:rPr>
                        <a:t>Quranpedia.net، نسخة 1 أكتوبر 2026</a:t>
                      </a:r>
                      <a:endParaRPr lang="ar-SA" sz="2200" b="0">
                        <a:solidFill>
                          <a:srgbClr val="F2F4FF"/>
                        </a:solidFill>
                        <a:latin typeface="Readex Pro"/>
                        <a:ea typeface="Readex Pro"/>
                        <a:cs typeface="Readex Pro"/>
                        <a:sym typeface="Readex Pro"/>
                      </a:endParaRPr>
                    </a:p>
                  </a:txBody>
                  <a:tcPr marL="91450" marR="91450" marT="45725" marB="45725" anchor="ctr">
                    <a:lnL w="9525">
                      <a:solidFill>
                        <a:srgbClr val="323D68"/>
                      </a:solidFill>
                    </a:lnL>
                    <a:lnR w="9525">
                      <a:solidFill>
                        <a:srgbClr val="323D68"/>
                      </a:solidFill>
                    </a:lnR>
                    <a:lnT w="9525">
                      <a:solidFill>
                        <a:srgbClr val="323D68"/>
                      </a:solidFill>
                    </a:lnT>
                    <a:lnB w="9525">
                      <a:solidFill>
                        <a:srgbClr val="323D68"/>
                      </a:solidFill>
                    </a:lnB>
                    <a:solidFill>
                      <a:srgbClr val="161D48"/>
                    </a:solidFill>
                  </a:tcPr>
                </a:tc>
                <a:tc>
                  <a:txBody>
                    <a:bodyPr/>
                    <a:lstStyle/>
                    <a:p>
                      <a:pPr marL="0" indent="0" rtl="1" algn="r">
                        <a:lnSpc>
                          <a:spcPct val="100000"/>
                        </a:lnSpc>
                        <a:spcBef>
                          <a:spcPts val="0"/>
                        </a:spcBef>
                        <a:spcAft>
                          <a:spcPts val="0"/>
                        </a:spcAft>
                        <a:buNone/>
                      </a:pPr>
                      <a:r>
                        <a:rPr lang="ar-SA" sz="2200" b="0">
                          <a:solidFill>
                            <a:srgbClr val="F2F4FF"/>
                          </a:solidFill>
                          <a:latin typeface="Readex Pro"/>
                          <a:ea typeface="Readex Pro"/>
                          <a:cs typeface="Readex Pro"/>
                          <a:sym typeface="Readex Pro"/>
                        </a:rPr>
                        <a:t>القرآن</a:t>
                      </a:r>
                      <a:endParaRPr lang="ar-SA" sz="2200" b="0">
                        <a:solidFill>
                          <a:srgbClr val="F2F4FF"/>
                        </a:solidFill>
                        <a:latin typeface="Readex Pro"/>
                        <a:ea typeface="Readex Pro"/>
                        <a:cs typeface="Readex Pro"/>
                        <a:sym typeface="Readex Pro"/>
                      </a:endParaRPr>
                    </a:p>
                  </a:txBody>
                  <a:tcPr marL="91450" marR="91450" marT="45725" marB="45725" anchor="ctr">
                    <a:lnL w="9525">
                      <a:solidFill>
                        <a:srgbClr val="323D68"/>
                      </a:solidFill>
                    </a:lnL>
                    <a:lnR w="9525">
                      <a:solidFill>
                        <a:srgbClr val="323D68"/>
                      </a:solidFill>
                    </a:lnR>
                    <a:lnT w="9525">
                      <a:solidFill>
                        <a:srgbClr val="323D68"/>
                      </a:solidFill>
                    </a:lnT>
                    <a:lnB w="9525">
                      <a:solidFill>
                        <a:srgbClr val="323D68"/>
                      </a:solidFill>
                    </a:lnB>
                    <a:solidFill>
                      <a:srgbClr val="161D48"/>
                    </a:solidFill>
                  </a:tcPr>
                </a:tc>
              </a:tr>
              <a:tr h="1000000">
                <a:tc>
                  <a:txBody>
                    <a:bodyPr/>
                    <a:lstStyle/>
                    <a:p>
                      <a:pPr marL="0" indent="0" rtl="1" algn="r">
                        <a:lnSpc>
                          <a:spcPct val="100000"/>
                        </a:lnSpc>
                        <a:spcBef>
                          <a:spcPts val="0"/>
                        </a:spcBef>
                        <a:spcAft>
                          <a:spcPts val="0"/>
                        </a:spcAft>
                        <a:buNone/>
                      </a:pPr>
                      <a:r>
                        <a:rPr lang="ar-SA" sz="2200" b="0">
                          <a:solidFill>
                            <a:srgbClr val="F2F4FF"/>
                          </a:solidFill>
                          <a:latin typeface="Readex Pro"/>
                          <a:ea typeface="Readex Pro"/>
                          <a:cs typeface="Readex Pro"/>
                          <a:sym typeface="Readex Pro"/>
                        </a:rPr>
                        <a:t>مطابقة مع الملف اليدوي</a:t>
                      </a:r>
                      <a:endParaRPr lang="ar-SA" sz="2200" b="0">
                        <a:solidFill>
                          <a:srgbClr val="F2F4FF"/>
                        </a:solidFill>
                        <a:latin typeface="Readex Pro"/>
                        <a:ea typeface="Readex Pro"/>
                        <a:cs typeface="Readex Pro"/>
                        <a:sym typeface="Readex Pro"/>
                      </a:endParaRPr>
                    </a:p>
                  </a:txBody>
                  <a:tcPr marL="91450" marR="91450" marT="45725" marB="45725" anchor="ctr">
                    <a:lnL w="9525">
                      <a:solidFill>
                        <a:srgbClr val="323D68"/>
                      </a:solidFill>
                    </a:lnL>
                    <a:lnR w="9525">
                      <a:solidFill>
                        <a:srgbClr val="323D68"/>
                      </a:solidFill>
                    </a:lnR>
                    <a:lnT w="9525">
                      <a:solidFill>
                        <a:srgbClr val="323D68"/>
                      </a:solidFill>
                    </a:lnT>
                    <a:lnB w="9525">
                      <a:solidFill>
                        <a:srgbClr val="323D68"/>
                      </a:solidFill>
                    </a:lnB>
                    <a:solidFill>
                      <a:srgbClr val="1B2252"/>
                    </a:solidFill>
                  </a:tcPr>
                </a:tc>
                <a:tc>
                  <a:txBody>
                    <a:bodyPr/>
                    <a:lstStyle/>
                    <a:p>
                      <a:pPr marL="0" indent="0" rtl="1" algn="r">
                        <a:lnSpc>
                          <a:spcPct val="100000"/>
                        </a:lnSpc>
                        <a:spcBef>
                          <a:spcPts val="0"/>
                        </a:spcBef>
                        <a:spcAft>
                          <a:spcPts val="0"/>
                        </a:spcAft>
                        <a:buNone/>
                      </a:pPr>
                      <a:r>
                        <a:rPr lang="ar-SA" sz="2200" b="0">
                          <a:solidFill>
                            <a:srgbClr val="F2F4FF"/>
                          </a:solidFill>
                          <a:latin typeface="Readex Pro"/>
                          <a:ea typeface="Readex Pro"/>
                          <a:cs typeface="Readex Pro"/>
                          <a:sym typeface="Readex Pro"/>
                        </a:rPr>
                        <a:t>8 من 9 مدخلات مكتملة، بروابط الدرر السنية</a:t>
                      </a:r>
                      <a:endParaRPr lang="ar-SA" sz="2200" b="0">
                        <a:solidFill>
                          <a:srgbClr val="F2F4FF"/>
                        </a:solidFill>
                        <a:latin typeface="Readex Pro"/>
                        <a:ea typeface="Readex Pro"/>
                        <a:cs typeface="Readex Pro"/>
                        <a:sym typeface="Readex Pro"/>
                      </a:endParaRPr>
                    </a:p>
                  </a:txBody>
                  <a:tcPr marL="91450" marR="91450" marT="45725" marB="45725" anchor="ctr">
                    <a:lnL w="9525">
                      <a:solidFill>
                        <a:srgbClr val="323D68"/>
                      </a:solidFill>
                    </a:lnL>
                    <a:lnR w="9525">
                      <a:solidFill>
                        <a:srgbClr val="323D68"/>
                      </a:solidFill>
                    </a:lnR>
                    <a:lnT w="9525">
                      <a:solidFill>
                        <a:srgbClr val="323D68"/>
                      </a:solidFill>
                    </a:lnT>
                    <a:lnB w="9525">
                      <a:solidFill>
                        <a:srgbClr val="323D68"/>
                      </a:solidFill>
                    </a:lnB>
                    <a:solidFill>
                      <a:srgbClr val="1B2252"/>
                    </a:solidFill>
                  </a:tcPr>
                </a:tc>
                <a:tc>
                  <a:txBody>
                    <a:bodyPr/>
                    <a:lstStyle/>
                    <a:p>
                      <a:pPr marL="0" indent="0" rtl="1" algn="r">
                        <a:lnSpc>
                          <a:spcPct val="100000"/>
                        </a:lnSpc>
                        <a:spcBef>
                          <a:spcPts val="0"/>
                        </a:spcBef>
                        <a:spcAft>
                          <a:spcPts val="0"/>
                        </a:spcAft>
                        <a:buNone/>
                      </a:pPr>
                      <a:r>
                        <a:rPr lang="ar-SA" sz="2200" b="0">
                          <a:solidFill>
                            <a:srgbClr val="F2F4FF"/>
                          </a:solidFill>
                          <a:latin typeface="Readex Pro"/>
                          <a:ea typeface="Readex Pro"/>
                          <a:cs typeface="Readex Pro"/>
                          <a:sym typeface="Readex Pro"/>
                        </a:rPr>
                        <a:t>الحديث</a:t>
                      </a:r>
                      <a:endParaRPr lang="ar-SA" sz="2200" b="0">
                        <a:solidFill>
                          <a:srgbClr val="F2F4FF"/>
                        </a:solidFill>
                        <a:latin typeface="Readex Pro"/>
                        <a:ea typeface="Readex Pro"/>
                        <a:cs typeface="Readex Pro"/>
                        <a:sym typeface="Readex Pro"/>
                      </a:endParaRPr>
                    </a:p>
                  </a:txBody>
                  <a:tcPr marL="91450" marR="91450" marT="45725" marB="45725" anchor="ctr">
                    <a:lnL w="9525">
                      <a:solidFill>
                        <a:srgbClr val="323D68"/>
                      </a:solidFill>
                    </a:lnL>
                    <a:lnR w="9525">
                      <a:solidFill>
                        <a:srgbClr val="323D68"/>
                      </a:solidFill>
                    </a:lnR>
                    <a:lnT w="9525">
                      <a:solidFill>
                        <a:srgbClr val="323D68"/>
                      </a:solidFill>
                    </a:lnT>
                    <a:lnB w="9525">
                      <a:solidFill>
                        <a:srgbClr val="323D68"/>
                      </a:solidFill>
                    </a:lnB>
                    <a:solidFill>
                      <a:srgbClr val="1B2252"/>
                    </a:solidFill>
                  </a:tcPr>
                </a:tc>
              </a:tr>
              <a:tr h="1000000">
                <a:tc>
                  <a:txBody>
                    <a:bodyPr/>
                    <a:lstStyle/>
                    <a:p>
                      <a:pPr marL="0" indent="0" rtl="1" algn="r">
                        <a:lnSpc>
                          <a:spcPct val="100000"/>
                        </a:lnSpc>
                        <a:spcBef>
                          <a:spcPts val="0"/>
                        </a:spcBef>
                        <a:spcAft>
                          <a:spcPts val="0"/>
                        </a:spcAft>
                        <a:buNone/>
                      </a:pPr>
                      <a:r>
                        <a:rPr lang="ar-SA" sz="2200" b="0">
                          <a:solidFill>
                            <a:srgbClr val="F2F4FF"/>
                          </a:solidFill>
                          <a:latin typeface="Readex Pro"/>
                          <a:ea typeface="Readex Pro"/>
                          <a:cs typeface="Readex Pro"/>
                          <a:sym typeface="Readex Pro"/>
                        </a:rPr>
                        <a:t>«يحتاج تحقق»، لا «خاطئ»</a:t>
                      </a:r>
                      <a:endParaRPr lang="ar-SA" sz="2200" b="0">
                        <a:solidFill>
                          <a:srgbClr val="F2F4FF"/>
                        </a:solidFill>
                        <a:latin typeface="Readex Pro"/>
                        <a:ea typeface="Readex Pro"/>
                        <a:cs typeface="Readex Pro"/>
                        <a:sym typeface="Readex Pro"/>
                      </a:endParaRPr>
                    </a:p>
                  </a:txBody>
                  <a:tcPr marL="91450" marR="91450" marT="45725" marB="45725" anchor="ctr">
                    <a:lnL w="9525">
                      <a:solidFill>
                        <a:srgbClr val="323D68"/>
                      </a:solidFill>
                    </a:lnL>
                    <a:lnR w="9525">
                      <a:solidFill>
                        <a:srgbClr val="323D68"/>
                      </a:solidFill>
                    </a:lnR>
                    <a:lnT w="9525">
                      <a:solidFill>
                        <a:srgbClr val="323D68"/>
                      </a:solidFill>
                    </a:lnT>
                    <a:lnB w="9525">
                      <a:solidFill>
                        <a:srgbClr val="323D68"/>
                      </a:solidFill>
                    </a:lnB>
                    <a:solidFill>
                      <a:srgbClr val="161D48"/>
                    </a:solidFill>
                  </a:tcPr>
                </a:tc>
                <a:tc>
                  <a:txBody>
                    <a:bodyPr/>
                    <a:lstStyle/>
                    <a:p>
                      <a:pPr marL="0" indent="0" rtl="1" algn="r">
                        <a:lnSpc>
                          <a:spcPct val="100000"/>
                        </a:lnSpc>
                        <a:spcBef>
                          <a:spcPts val="0"/>
                        </a:spcBef>
                        <a:spcAft>
                          <a:spcPts val="0"/>
                        </a:spcAft>
                        <a:buNone/>
                      </a:pPr>
                      <a:r>
                        <a:rPr lang="ar-SA" sz="2200" b="0">
                          <a:solidFill>
                            <a:srgbClr val="F2F4FF"/>
                          </a:solidFill>
                          <a:latin typeface="Readex Pro"/>
                          <a:ea typeface="Readex Pro"/>
                          <a:cs typeface="Readex Pro"/>
                          <a:sym typeface="Readex Pro"/>
                        </a:rPr>
                        <a:t>—</a:t>
                      </a:r>
                      <a:endParaRPr lang="ar-SA" sz="2200" b="0">
                        <a:solidFill>
                          <a:srgbClr val="F2F4FF"/>
                        </a:solidFill>
                        <a:latin typeface="Readex Pro"/>
                        <a:ea typeface="Readex Pro"/>
                        <a:cs typeface="Readex Pro"/>
                        <a:sym typeface="Readex Pro"/>
                      </a:endParaRPr>
                    </a:p>
                  </a:txBody>
                  <a:tcPr marL="91450" marR="91450" marT="45725" marB="45725" anchor="ctr">
                    <a:lnL w="9525">
                      <a:solidFill>
                        <a:srgbClr val="323D68"/>
                      </a:solidFill>
                    </a:lnL>
                    <a:lnR w="9525">
                      <a:solidFill>
                        <a:srgbClr val="323D68"/>
                      </a:solidFill>
                    </a:lnR>
                    <a:lnT w="9525">
                      <a:solidFill>
                        <a:srgbClr val="323D68"/>
                      </a:solidFill>
                    </a:lnT>
                    <a:lnB w="9525">
                      <a:solidFill>
                        <a:srgbClr val="323D68"/>
                      </a:solidFill>
                    </a:lnB>
                    <a:solidFill>
                      <a:srgbClr val="161D48"/>
                    </a:solidFill>
                  </a:tcPr>
                </a:tc>
                <a:tc>
                  <a:txBody>
                    <a:bodyPr/>
                    <a:lstStyle/>
                    <a:p>
                      <a:pPr marL="0" indent="0" rtl="1" algn="r">
                        <a:lnSpc>
                          <a:spcPct val="100000"/>
                        </a:lnSpc>
                        <a:spcBef>
                          <a:spcPts val="0"/>
                        </a:spcBef>
                        <a:spcAft>
                          <a:spcPts val="0"/>
                        </a:spcAft>
                        <a:buNone/>
                      </a:pPr>
                      <a:r>
                        <a:rPr lang="ar-SA" sz="2200" b="0">
                          <a:solidFill>
                            <a:srgbClr val="F2F4FF"/>
                          </a:solidFill>
                          <a:latin typeface="Readex Pro"/>
                          <a:ea typeface="Readex Pro"/>
                          <a:cs typeface="Readex Pro"/>
                          <a:sym typeface="Readex Pro"/>
                        </a:rPr>
                        <a:t>بلا مدخل</a:t>
                      </a:r>
                      <a:endParaRPr lang="ar-SA" sz="2200" b="0">
                        <a:solidFill>
                          <a:srgbClr val="F2F4FF"/>
                        </a:solidFill>
                        <a:latin typeface="Readex Pro"/>
                        <a:ea typeface="Readex Pro"/>
                        <a:cs typeface="Readex Pro"/>
                        <a:sym typeface="Readex Pro"/>
                      </a:endParaRPr>
                    </a:p>
                  </a:txBody>
                  <a:tcPr marL="91450" marR="91450" marT="45725" marB="45725" anchor="ctr">
                    <a:lnL w="9525">
                      <a:solidFill>
                        <a:srgbClr val="323D68"/>
                      </a:solidFill>
                    </a:lnL>
                    <a:lnR w="9525">
                      <a:solidFill>
                        <a:srgbClr val="323D68"/>
                      </a:solidFill>
                    </a:lnR>
                    <a:lnT w="9525">
                      <a:solidFill>
                        <a:srgbClr val="323D68"/>
                      </a:solidFill>
                    </a:lnT>
                    <a:lnB w="9525">
                      <a:solidFill>
                        <a:srgbClr val="323D68"/>
                      </a:solidFill>
                    </a:lnB>
                    <a:solidFill>
                      <a:srgbClr val="161D48"/>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15</a:t>
            </a:fld>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2EF2C2"/>
                </a:solidFill>
                <a:latin typeface="Readex Pro"/>
                <a:ea typeface="Readex Pro"/>
                <a:cs typeface="Readex Pro"/>
                <a:sym typeface="Readex Pro"/>
              </a:rPr>
              <a:t>خطة الاستمرار</a:t>
            </a:r>
            <a:endParaRPr lang="ar-SA" sz="1800" b="0">
              <a:solidFill>
                <a:srgbClr val="2EF2C2"/>
              </a:solidFill>
              <a:latin typeface="Readex Pro"/>
              <a:ea typeface="Readex Pro"/>
              <a:cs typeface="Readex Pro"/>
              <a:sym typeface="Readex Pro"/>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500" b="1">
                <a:solidFill>
                  <a:srgbClr val="F2F4FF"/>
                </a:solidFill>
                <a:latin typeface="Readex Pro"/>
                <a:ea typeface="Readex Pro"/>
                <a:cs typeface="Readex Pro"/>
                <a:sym typeface="Readex Pro"/>
              </a:rPr>
              <a:t>الخطوة التالية: مراجعة مستقلة وقياس فعلي للنفع</a:t>
            </a:r>
            <a:endParaRPr lang="ar-SA" sz="4500" b="1">
              <a:solidFill>
                <a:srgbClr val="F2F4FF"/>
              </a:solidFill>
              <a:latin typeface="Readex Pro"/>
              <a:ea typeface="Readex Pro"/>
              <a:cs typeface="Readex Pro"/>
              <a:sym typeface="Readex Pro"/>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400" b="0">
                <a:solidFill>
                  <a:srgbClr val="8E99CC"/>
                </a:solidFill>
                <a:latin typeface="Readex Pro"/>
                <a:ea typeface="Readex Pro"/>
                <a:cs typeface="Readex Pro"/>
                <a:sym typeface="Readex Pro"/>
              </a:rPr>
              <a:t>غير منفّذة بعد · المصدر: docs/OPERATIONS.md</a:t>
            </a:r>
            <a:endParaRPr lang="ar-SA" sz="2400" b="0">
              <a:solidFill>
                <a:srgbClr val="8E99CC"/>
              </a:solidFill>
              <a:latin typeface="Readex Pro"/>
              <a:ea typeface="Readex Pro"/>
              <a:cs typeface="Readex Pro"/>
              <a:sym typeface="Readex Pro"/>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3900" b="1">
                <a:solidFill>
                  <a:srgbClr val="2EF2C2"/>
                </a:solidFill>
                <a:latin typeface="Readex Pro"/>
                <a:ea typeface="Readex Pro"/>
                <a:cs typeface="Readex Pro"/>
                <a:sym typeface="Readex Pro"/>
              </a:rPr>
              <a:t>01</a:t>
            </a:r>
            <a:endParaRPr lang="ar-SA" sz="3900" b="1">
              <a:solidFill>
                <a:srgbClr val="2EF2C2"/>
              </a:solidFill>
              <a:latin typeface="Readex Pro"/>
              <a:ea typeface="Readex Pro"/>
              <a:cs typeface="Readex Pro"/>
              <a:sym typeface="Readex Pro"/>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500" b="1">
                <a:solidFill>
                  <a:srgbClr val="F2F4FF"/>
                </a:solidFill>
                <a:latin typeface="Readex Pro"/>
                <a:ea typeface="Readex Pro"/>
                <a:cs typeface="Readex Pro"/>
                <a:sym typeface="Readex Pro"/>
              </a:rPr>
              <a:t>مراجعة مستقلة</a:t>
            </a:r>
            <a:endParaRPr lang="ar-SA" sz="2500" b="1">
              <a:solidFill>
                <a:srgbClr val="F2F4FF"/>
              </a:solidFill>
              <a:latin typeface="Readex Pro"/>
              <a:ea typeface="Readex Pro"/>
              <a:cs typeface="Readex Pro"/>
              <a:sym typeface="Readex Pro"/>
            </a:endParaRPr>
          </a:p>
        </p:txBody>
      </p:sp>
      <p:sp>
        <p:nvSpPr>
          <p:cNvPr id="658" name="Google Shape;658;p18"/>
          <p:cNvSpPr txBox="1"/>
          <p:nvPr>
            <p:ph idx="6" type="body"/>
          </p:nvPr>
        </p:nvSpPr>
        <p:spPr>
          <a:xfrm>
            <a:off x="13982700" y="6000000"/>
            <a:ext cx="2857500" cy="1095300"/>
          </a:xfrm>
          <a:prstGeom prst="rect">
            <a:avLst/>
          </a:prstGeom>
          <a:noFill/>
          <a:ln>
            <a:noFill/>
          </a:ln>
        </p:spPr>
        <p:txBody>
          <a:bodyPr anchorCtr="0" anchor="t" bIns="0" lIns="0" spcFirstLastPara="1" rIns="0" wrap="square" tIns="0">
            <a:noAutofit/>
          </a:bodyPr>
          <a:lstStyle/>
          <a:p>
            <a:pPr marL="0" indent="0" rtl="1" algn="ctr">
              <a:lnSpc>
                <a:spcPct val="110000"/>
              </a:lnSpc>
              <a:spcBef>
                <a:spcPts val="0"/>
              </a:spcBef>
              <a:spcAft>
                <a:spcPts val="0"/>
              </a:spcAft>
              <a:buNone/>
            </a:pPr>
            <a:r>
              <a:rPr lang="ar-SA" sz="2200" b="0">
                <a:solidFill>
                  <a:srgbClr val="8E99CC"/>
                </a:solidFill>
                <a:latin typeface="Readex Pro"/>
                <a:ea typeface="Readex Pro"/>
                <a:cs typeface="Readex Pro"/>
                <a:sym typeface="Readex Pro"/>
              </a:rPr>
              <a:t>مختص شرعي للحالات</a:t>
            </a:r>
            <a:endParaRPr lang="ar-SA" sz="2200" b="0">
              <a:solidFill>
                <a:srgbClr val="8E99CC"/>
              </a:solidFill>
              <a:latin typeface="Readex Pro"/>
              <a:ea typeface="Readex Pro"/>
              <a:cs typeface="Readex Pro"/>
              <a:sym typeface="Readex Pro"/>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3900" b="1">
                <a:solidFill>
                  <a:srgbClr val="2EF2C2"/>
                </a:solidFill>
                <a:latin typeface="Readex Pro"/>
                <a:ea typeface="Readex Pro"/>
                <a:cs typeface="Readex Pro"/>
                <a:sym typeface="Readex Pro"/>
              </a:rPr>
              <a:t>02</a:t>
            </a:r>
            <a:endParaRPr lang="ar-SA" sz="3900" b="1">
              <a:solidFill>
                <a:srgbClr val="2EF2C2"/>
              </a:solidFill>
              <a:latin typeface="Readex Pro"/>
              <a:ea typeface="Readex Pro"/>
              <a:cs typeface="Readex Pro"/>
              <a:sym typeface="Readex Pro"/>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500" b="1">
                <a:solidFill>
                  <a:srgbClr val="F2F4FF"/>
                </a:solidFill>
                <a:latin typeface="Readex Pro"/>
                <a:ea typeface="Readex Pro"/>
                <a:cs typeface="Readex Pro"/>
                <a:sym typeface="Readex Pro"/>
              </a:rPr>
              <a:t>إكمال الأحاديث</a:t>
            </a:r>
            <a:endParaRPr lang="ar-SA" sz="2500" b="1">
              <a:solidFill>
                <a:srgbClr val="F2F4FF"/>
              </a:solidFill>
              <a:latin typeface="Readex Pro"/>
              <a:ea typeface="Readex Pro"/>
              <a:cs typeface="Readex Pro"/>
              <a:sym typeface="Readex Pro"/>
            </a:endParaRPr>
          </a:p>
        </p:txBody>
      </p:sp>
      <p:sp>
        <p:nvSpPr>
          <p:cNvPr id="662" name="Google Shape;662;p18"/>
          <p:cNvSpPr txBox="1"/>
          <p:nvPr>
            <p:ph idx="13" type="body"/>
          </p:nvPr>
        </p:nvSpPr>
        <p:spPr>
          <a:xfrm>
            <a:off x="10839450" y="6000000"/>
            <a:ext cx="2857500" cy="1095300"/>
          </a:xfrm>
          <a:prstGeom prst="rect">
            <a:avLst/>
          </a:prstGeom>
          <a:noFill/>
          <a:ln>
            <a:noFill/>
          </a:ln>
        </p:spPr>
        <p:txBody>
          <a:bodyPr anchorCtr="0" anchor="t" bIns="0" lIns="0" spcFirstLastPara="1" rIns="0" wrap="square" tIns="0">
            <a:noAutofit/>
          </a:bodyPr>
          <a:lstStyle/>
          <a:p>
            <a:pPr marL="0" indent="0" rtl="1" algn="ctr">
              <a:lnSpc>
                <a:spcPct val="110000"/>
              </a:lnSpc>
              <a:spcBef>
                <a:spcPts val="0"/>
              </a:spcBef>
              <a:spcAft>
                <a:spcPts val="0"/>
              </a:spcAft>
              <a:buNone/>
            </a:pPr>
            <a:r>
              <a:rPr lang="ar-SA" sz="2200" b="0">
                <a:solidFill>
                  <a:srgbClr val="8E99CC"/>
                </a:solidFill>
                <a:latin typeface="Readex Pro"/>
                <a:ea typeface="Readex Pro"/>
                <a:cs typeface="Readex Pro"/>
                <a:sym typeface="Readex Pro"/>
              </a:rPr>
              <a:t>وحقل منظّم لنفي الوجود</a:t>
            </a:r>
            <a:endParaRPr lang="ar-SA" sz="2200" b="0">
              <a:solidFill>
                <a:srgbClr val="8E99CC"/>
              </a:solidFill>
              <a:latin typeface="Readex Pro"/>
              <a:ea typeface="Readex Pro"/>
              <a:cs typeface="Readex Pro"/>
              <a:sym typeface="Readex Pro"/>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3900" b="1">
                <a:solidFill>
                  <a:srgbClr val="2EF2C2"/>
                </a:solidFill>
                <a:latin typeface="Readex Pro"/>
                <a:ea typeface="Readex Pro"/>
                <a:cs typeface="Readex Pro"/>
                <a:sym typeface="Readex Pro"/>
              </a:rPr>
              <a:t>03</a:t>
            </a:r>
            <a:endParaRPr lang="ar-SA" sz="3900" b="1">
              <a:solidFill>
                <a:srgbClr val="2EF2C2"/>
              </a:solidFill>
              <a:latin typeface="Readex Pro"/>
              <a:ea typeface="Readex Pro"/>
              <a:cs typeface="Readex Pro"/>
              <a:sym typeface="Readex Pro"/>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500" b="1">
                <a:solidFill>
                  <a:srgbClr val="F2F4FF"/>
                </a:solidFill>
                <a:latin typeface="Readex Pro"/>
                <a:ea typeface="Readex Pro"/>
                <a:cs typeface="Readex Pro"/>
                <a:sym typeface="Readex Pro"/>
              </a:rPr>
              <a:t>جولات rag</a:t>
            </a:r>
            <a:endParaRPr lang="ar-SA" sz="2500" b="1">
              <a:solidFill>
                <a:srgbClr val="F2F4FF"/>
              </a:solidFill>
              <a:latin typeface="Readex Pro"/>
              <a:ea typeface="Readex Pro"/>
              <a:cs typeface="Readex Pro"/>
              <a:sym typeface="Readex Pro"/>
            </a:endParaRPr>
          </a:p>
        </p:txBody>
      </p:sp>
      <p:sp>
        <p:nvSpPr>
          <p:cNvPr id="666" name="Google Shape;666;p18"/>
          <p:cNvSpPr txBox="1"/>
          <p:nvPr>
            <p:ph idx="17" type="body"/>
          </p:nvPr>
        </p:nvSpPr>
        <p:spPr>
          <a:xfrm>
            <a:off x="7696200" y="6000000"/>
            <a:ext cx="2857500" cy="1095300"/>
          </a:xfrm>
          <a:prstGeom prst="rect">
            <a:avLst/>
          </a:prstGeom>
          <a:noFill/>
          <a:ln>
            <a:noFill/>
          </a:ln>
        </p:spPr>
        <p:txBody>
          <a:bodyPr anchorCtr="0" anchor="t" bIns="0" lIns="0" spcFirstLastPara="1" rIns="0" wrap="square" tIns="0">
            <a:noAutofit/>
          </a:bodyPr>
          <a:lstStyle/>
          <a:p>
            <a:pPr marL="0" indent="0" rtl="1" algn="ctr">
              <a:lnSpc>
                <a:spcPct val="110000"/>
              </a:lnSpc>
              <a:spcBef>
                <a:spcPts val="0"/>
              </a:spcBef>
              <a:spcAft>
                <a:spcPts val="0"/>
              </a:spcAft>
              <a:buNone/>
            </a:pPr>
            <a:r>
              <a:rPr lang="ar-SA" sz="2200" b="0">
                <a:solidFill>
                  <a:srgbClr val="8E99CC"/>
                </a:solidFill>
                <a:latin typeface="Readex Pro"/>
                <a:ea typeface="Readex Pro"/>
                <a:cs typeface="Readex Pro"/>
                <a:sym typeface="Readex Pro"/>
              </a:rPr>
              <a:t>لقياس الثبات</a:t>
            </a:r>
            <a:endParaRPr lang="ar-SA" sz="2200" b="0">
              <a:solidFill>
                <a:srgbClr val="8E99CC"/>
              </a:solidFill>
              <a:latin typeface="Readex Pro"/>
              <a:ea typeface="Readex Pro"/>
              <a:cs typeface="Readex Pro"/>
              <a:sym typeface="Readex Pro"/>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3900" b="1">
                <a:solidFill>
                  <a:srgbClr val="2EF2C2"/>
                </a:solidFill>
                <a:latin typeface="Readex Pro"/>
                <a:ea typeface="Readex Pro"/>
                <a:cs typeface="Readex Pro"/>
                <a:sym typeface="Readex Pro"/>
              </a:rPr>
              <a:t>04</a:t>
            </a:r>
            <a:endParaRPr lang="ar-SA" sz="3900" b="1">
              <a:solidFill>
                <a:srgbClr val="2EF2C2"/>
              </a:solidFill>
              <a:latin typeface="Readex Pro"/>
              <a:ea typeface="Readex Pro"/>
              <a:cs typeface="Readex Pro"/>
              <a:sym typeface="Readex Pro"/>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500" b="1">
                <a:solidFill>
                  <a:srgbClr val="F2F4FF"/>
                </a:solidFill>
                <a:latin typeface="Readex Pro"/>
                <a:ea typeface="Readex Pro"/>
                <a:cs typeface="Readex Pro"/>
                <a:sym typeface="Readex Pro"/>
              </a:rPr>
              <a:t>قياس النفع</a:t>
            </a:r>
            <a:endParaRPr lang="ar-SA" sz="2500" b="1">
              <a:solidFill>
                <a:srgbClr val="F2F4FF"/>
              </a:solidFill>
              <a:latin typeface="Readex Pro"/>
              <a:ea typeface="Readex Pro"/>
              <a:cs typeface="Readex Pro"/>
              <a:sym typeface="Readex Pro"/>
            </a:endParaRPr>
          </a:p>
        </p:txBody>
      </p:sp>
      <p:sp>
        <p:nvSpPr>
          <p:cNvPr id="670" name="Google Shape;670;p18"/>
          <p:cNvSpPr txBox="1"/>
          <p:nvPr>
            <p:ph idx="21" type="body"/>
          </p:nvPr>
        </p:nvSpPr>
        <p:spPr>
          <a:xfrm>
            <a:off x="4552950" y="6000000"/>
            <a:ext cx="2857500" cy="1095300"/>
          </a:xfrm>
          <a:prstGeom prst="rect">
            <a:avLst/>
          </a:prstGeom>
          <a:noFill/>
          <a:ln>
            <a:noFill/>
          </a:ln>
        </p:spPr>
        <p:txBody>
          <a:bodyPr anchorCtr="0" anchor="t" bIns="0" lIns="0" spcFirstLastPara="1" rIns="0" wrap="square" tIns="0">
            <a:noAutofit/>
          </a:bodyPr>
          <a:lstStyle/>
          <a:p>
            <a:pPr marL="0" indent="0" rtl="1" algn="ctr">
              <a:lnSpc>
                <a:spcPct val="110000"/>
              </a:lnSpc>
              <a:spcBef>
                <a:spcPts val="0"/>
              </a:spcBef>
              <a:spcAft>
                <a:spcPts val="0"/>
              </a:spcAft>
              <a:buNone/>
            </a:pPr>
            <a:r>
              <a:rPr lang="ar-SA" sz="2200" b="0">
                <a:solidFill>
                  <a:srgbClr val="8E99CC"/>
                </a:solidFill>
                <a:latin typeface="Readex Pro"/>
                <a:ea typeface="Readex Pro"/>
                <a:cs typeface="Readex Pro"/>
                <a:sym typeface="Readex Pro"/>
              </a:rPr>
              <a:t>بمراجع مستقل وبروتوكول مكتوب</a:t>
            </a:r>
            <a:endParaRPr lang="ar-SA" sz="2200" b="0">
              <a:solidFill>
                <a:srgbClr val="8E99CC"/>
              </a:solidFill>
              <a:latin typeface="Readex Pro"/>
              <a:ea typeface="Readex Pro"/>
              <a:cs typeface="Readex Pro"/>
              <a:sym typeface="Readex Pro"/>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3900" b="1">
                <a:solidFill>
                  <a:srgbClr val="2EF2C2"/>
                </a:solidFill>
                <a:latin typeface="Readex Pro"/>
                <a:ea typeface="Readex Pro"/>
                <a:cs typeface="Readex Pro"/>
                <a:sym typeface="Readex Pro"/>
              </a:rPr>
              <a:t>05</a:t>
            </a:r>
            <a:endParaRPr lang="ar-SA" sz="3900" b="1">
              <a:solidFill>
                <a:srgbClr val="2EF2C2"/>
              </a:solidFill>
              <a:latin typeface="Readex Pro"/>
              <a:ea typeface="Readex Pro"/>
              <a:cs typeface="Readex Pro"/>
              <a:sym typeface="Readex Pro"/>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500" b="1">
                <a:solidFill>
                  <a:srgbClr val="F2F4FF"/>
                </a:solidFill>
                <a:latin typeface="Readex Pro"/>
                <a:ea typeface="Readex Pro"/>
                <a:cs typeface="Readex Pro"/>
                <a:sym typeface="Readex Pro"/>
              </a:rPr>
              <a:t>Red Teaming</a:t>
            </a:r>
            <a:endParaRPr lang="ar-SA" sz="2500" b="1">
              <a:solidFill>
                <a:srgbClr val="F2F4FF"/>
              </a:solidFill>
              <a:latin typeface="Readex Pro"/>
              <a:ea typeface="Readex Pro"/>
              <a:cs typeface="Readex Pro"/>
              <a:sym typeface="Readex Pro"/>
            </a:endParaRPr>
          </a:p>
        </p:txBody>
      </p:sp>
      <p:sp>
        <p:nvSpPr>
          <p:cNvPr id="674" name="Google Shape;674;p18"/>
          <p:cNvSpPr txBox="1"/>
          <p:nvPr>
            <p:ph idx="25" type="body"/>
          </p:nvPr>
        </p:nvSpPr>
        <p:spPr>
          <a:xfrm>
            <a:off x="1409700" y="6000000"/>
            <a:ext cx="2857500" cy="1095300"/>
          </a:xfrm>
          <a:prstGeom prst="rect">
            <a:avLst/>
          </a:prstGeom>
          <a:noFill/>
          <a:ln>
            <a:noFill/>
          </a:ln>
        </p:spPr>
        <p:txBody>
          <a:bodyPr anchorCtr="0" anchor="t" bIns="0" lIns="0" spcFirstLastPara="1" rIns="0" wrap="square" tIns="0">
            <a:noAutofit/>
          </a:bodyPr>
          <a:lstStyle/>
          <a:p>
            <a:pPr marL="0" indent="0" rtl="1" algn="ctr">
              <a:lnSpc>
                <a:spcPct val="110000"/>
              </a:lnSpc>
              <a:spcBef>
                <a:spcPts val="0"/>
              </a:spcBef>
              <a:spcAft>
                <a:spcPts val="0"/>
              </a:spcAft>
              <a:buNone/>
            </a:pPr>
            <a:r>
              <a:rPr lang="ar-SA" sz="2200" b="0">
                <a:solidFill>
                  <a:srgbClr val="8E99CC"/>
                </a:solidFill>
                <a:latin typeface="Readex Pro"/>
                <a:ea typeface="Readex Pro"/>
                <a:cs typeface="Readex Pro"/>
                <a:sym typeface="Readex Pro"/>
              </a:rPr>
              <a:t>حقن الأوامر، فئة مستقلة</a:t>
            </a:r>
            <a:endParaRPr lang="ar-SA" sz="2200" b="0">
              <a:solidFill>
                <a:srgbClr val="8E99CC"/>
              </a:solidFill>
              <a:latin typeface="Readex Pro"/>
              <a:ea typeface="Readex Pro"/>
              <a:cs typeface="Readex Pro"/>
              <a:sym typeface="Readex Pro"/>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pic>
        <p:nvPicPr>
          <p:cNvPr id="709" name="Google Shape;709;p2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710" name="Google Shape;710;p2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6150EA"/>
                </a:solidFill>
                <a:latin typeface="Readex Pro"/>
                <a:ea typeface="Readex Pro"/>
                <a:cs typeface="Readex Pro"/>
                <a:sym typeface="Readex Pro"/>
              </a:rPr>
              <a:t>التحقق البشري</a:t>
            </a:r>
            <a:endParaRPr lang="ar-SA" sz="1800" b="0">
              <a:solidFill>
                <a:srgbClr val="6150EA"/>
              </a:solidFill>
              <a:latin typeface="Readex Pro"/>
              <a:ea typeface="Readex Pro"/>
              <a:cs typeface="Readex Pro"/>
              <a:sym typeface="Readex Pro"/>
            </a:endParaRPr>
          </a:p>
        </p:txBody>
      </p:sp>
      <p:sp>
        <p:nvSpPr>
          <p:cNvPr id="711" name="Google Shape;711;p20"/>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500" b="1">
                <a:solidFill>
                  <a:srgbClr val="12183F"/>
                </a:solidFill>
                <a:latin typeface="Readex Pro"/>
                <a:ea typeface="Readex Pro"/>
                <a:cs typeface="Readex Pro"/>
                <a:sym typeface="Readex Pro"/>
              </a:rPr>
              <a:t>تحقق بشري محدود ومُعلَن، لا مراجعة شرعية مستقلة</a:t>
            </a:r>
            <a:endParaRPr lang="ar-SA" sz="4500" b="1">
              <a:solidFill>
                <a:srgbClr val="12183F"/>
              </a:solidFill>
              <a:latin typeface="Readex Pro"/>
              <a:ea typeface="Readex Pro"/>
              <a:cs typeface="Readex Pro"/>
              <a:sym typeface="Readex Pro"/>
            </a:endParaRPr>
          </a:p>
        </p:txBody>
      </p:sp>
      <p:sp>
        <p:nvSpPr>
          <p:cNvPr id="713" name="Google Shape;713;p2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11</a:t>
            </a:fld>
            <a:endParaRPr/>
          </a:p>
        </p:txBody>
      </p:sp>
      <p:sp>
        <p:nvSpPr>
          <p:cNvPr id="714" name="Google Shape;714;p20"/>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700" b="1">
                <a:solidFill>
                  <a:srgbClr val="6150EA"/>
                </a:solidFill>
                <a:latin typeface="Readex Pro"/>
                <a:ea typeface="Readex Pro"/>
                <a:cs typeface="Readex Pro"/>
                <a:sym typeface="Readex Pro"/>
              </a:rPr>
              <a:t>31 استشهاداً قرآنياً (Gold Set)</a:t>
            </a:r>
            <a:endParaRPr lang="ar-SA" sz="2700" b="1">
              <a:solidFill>
                <a:srgbClr val="6150EA"/>
              </a:solidFill>
              <a:latin typeface="Readex Pro"/>
              <a:ea typeface="Readex Pro"/>
              <a:cs typeface="Readex Pro"/>
              <a:sym typeface="Readex Pro"/>
            </a:endParaRPr>
          </a:p>
        </p:txBody>
      </p:sp>
      <p:sp>
        <p:nvSpPr>
          <p:cNvPr id="715" name="Google Shape;715;p20"/>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marL="0" indent="0" rtl="1" algn="r">
              <a:lnSpc>
                <a:spcPct val="110000"/>
              </a:lnSpc>
              <a:spcBef>
                <a:spcPts val="0"/>
              </a:spcBef>
              <a:spcAft>
                <a:spcPts val="0"/>
              </a:spcAft>
              <a:buNone/>
            </a:pPr>
            <a:r>
              <a:rPr lang="ar-SA" sz="2200" b="0">
                <a:solidFill>
                  <a:srgbClr val="12183F"/>
                </a:solidFill>
                <a:latin typeface="Readex Pro"/>
                <a:ea typeface="Readex Pro"/>
                <a:cs typeface="Readex Pro"/>
                <a:sym typeface="Readex Pro"/>
              </a:rPr>
              <a:t>وافق 20 من 20 «مؤيَّد»، و3 من 3 «خاطئ»، و7 من 8 «يحتاج تحقق»</a:t>
            </a:r>
            <a:endParaRPr lang="ar-SA" sz="2200" b="0">
              <a:solidFill>
                <a:srgbClr val="12183F"/>
              </a:solidFill>
              <a:latin typeface="Readex Pro"/>
              <a:ea typeface="Readex Pro"/>
              <a:cs typeface="Readex Pro"/>
              <a:sym typeface="Readex Pro"/>
            </a:endParaRPr>
          </a:p>
        </p:txBody>
      </p:sp>
      <p:sp>
        <p:nvSpPr>
          <p:cNvPr id="716" name="Google Shape;716;p20"/>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700" b="1">
                <a:solidFill>
                  <a:srgbClr val="6150EA"/>
                </a:solidFill>
                <a:latin typeface="Readex Pro"/>
                <a:ea typeface="Readex Pro"/>
                <a:cs typeface="Readex Pro"/>
                <a:sym typeface="Readex Pro"/>
              </a:rPr>
              <a:t>مراجع واحد غير مستقل</a:t>
            </a:r>
            <a:endParaRPr lang="ar-SA" sz="2700" b="1">
              <a:solidFill>
                <a:srgbClr val="6150EA"/>
              </a:solidFill>
              <a:latin typeface="Readex Pro"/>
              <a:ea typeface="Readex Pro"/>
              <a:cs typeface="Readex Pro"/>
              <a:sym typeface="Readex Pro"/>
            </a:endParaRPr>
          </a:p>
        </p:txBody>
      </p:sp>
      <p:sp>
        <p:nvSpPr>
          <p:cNvPr id="717" name="Google Shape;717;p20"/>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marL="0" indent="0" rtl="1" algn="r">
              <a:lnSpc>
                <a:spcPct val="110000"/>
              </a:lnSpc>
              <a:spcBef>
                <a:spcPts val="0"/>
              </a:spcBef>
              <a:spcAft>
                <a:spcPts val="0"/>
              </a:spcAft>
              <a:buNone/>
            </a:pPr>
            <a:r>
              <a:rPr lang="ar-SA" sz="2200" b="0">
                <a:solidFill>
                  <a:srgbClr val="12183F"/>
                </a:solidFill>
                <a:latin typeface="Readex Pro"/>
                <a:ea typeface="Readex Pro"/>
                <a:cs typeface="Readex Pro"/>
                <a:sym typeface="Readex Pro"/>
              </a:rPr>
              <a:t>صاحب المشروع، رأى الأحكام مسبقاً؛ ليس مراجعة شرعية</a:t>
            </a:r>
            <a:endParaRPr lang="ar-SA" sz="2200" b="0">
              <a:solidFill>
                <a:srgbClr val="12183F"/>
              </a:solidFill>
              <a:latin typeface="Readex Pro"/>
              <a:ea typeface="Readex Pro"/>
              <a:cs typeface="Readex Pro"/>
              <a:sym typeface="Readex Pro"/>
            </a:endParaRPr>
          </a:p>
        </p:txBody>
      </p:sp>
      <p:sp>
        <p:nvSpPr>
          <p:cNvPr id="718" name="Google Shape;718;p20"/>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700" b="1">
                <a:solidFill>
                  <a:srgbClr val="6150EA"/>
                </a:solidFill>
                <a:latin typeface="Readex Pro"/>
                <a:ea typeface="Readex Pro"/>
                <a:cs typeface="Readex Pro"/>
                <a:sym typeface="Readex Pro"/>
              </a:rPr>
              <a:t>مراجعة شرعية لحالة واحدة من 12</a:t>
            </a:r>
            <a:endParaRPr lang="ar-SA" sz="2700" b="1">
              <a:solidFill>
                <a:srgbClr val="6150EA"/>
              </a:solidFill>
              <a:latin typeface="Readex Pro"/>
              <a:ea typeface="Readex Pro"/>
              <a:cs typeface="Readex Pro"/>
              <a:sym typeface="Readex Pro"/>
            </a:endParaRPr>
          </a:p>
        </p:txBody>
      </p:sp>
      <p:sp>
        <p:nvSpPr>
          <p:cNvPr id="719" name="Google Shape;719;p20"/>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marL="0" indent="0" rtl="1" algn="r">
              <a:lnSpc>
                <a:spcPct val="110000"/>
              </a:lnSpc>
              <a:spcBef>
                <a:spcPts val="0"/>
              </a:spcBef>
              <a:spcAft>
                <a:spcPts val="0"/>
              </a:spcAft>
              <a:buNone/>
            </a:pPr>
            <a:r>
              <a:rPr lang="ar-SA" sz="2200" b="0">
                <a:solidFill>
                  <a:srgbClr val="12183F"/>
                </a:solidFill>
                <a:latin typeface="Readex Pro"/>
                <a:ea typeface="Readex Pro"/>
                <a:cs typeface="Readex Pro"/>
                <a:sym typeface="Readex Pro"/>
              </a:rPr>
              <a:t>OFF-06: خريج شريعة قريب لصاحب المشروع، لا لجنة مستقلة</a:t>
            </a:r>
            <a:endParaRPr lang="ar-SA" sz="2200" b="0">
              <a:solidFill>
                <a:srgbClr val="12183F"/>
              </a:solidFill>
              <a:latin typeface="Readex Pro"/>
              <a:ea typeface="Readex Pro"/>
              <a:cs typeface="Readex Pro"/>
              <a:sym typeface="Readex Pro"/>
            </a:endParaRPr>
          </a:p>
        </p:txBody>
      </p:sp>
      <p:sp>
        <p:nvSpPr>
          <p:cNvPr id="720" name="Google Shape;720;p20"/>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2700" b="1">
                <a:solidFill>
                  <a:srgbClr val="6150EA"/>
                </a:solidFill>
                <a:latin typeface="Readex Pro"/>
                <a:ea typeface="Readex Pro"/>
                <a:cs typeface="Readex Pro"/>
                <a:sym typeface="Readex Pro"/>
              </a:rPr>
              <a:t>لم يُقَس بعد</a:t>
            </a:r>
            <a:endParaRPr lang="ar-SA" sz="2700" b="1">
              <a:solidFill>
                <a:srgbClr val="6150EA"/>
              </a:solidFill>
              <a:latin typeface="Readex Pro"/>
              <a:ea typeface="Readex Pro"/>
              <a:cs typeface="Readex Pro"/>
              <a:sym typeface="Readex Pro"/>
            </a:endParaRPr>
          </a:p>
        </p:txBody>
      </p:sp>
      <p:sp>
        <p:nvSpPr>
          <p:cNvPr id="721" name="Google Shape;721;p20"/>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marL="0" indent="0" rtl="1" algn="r">
              <a:lnSpc>
                <a:spcPct val="110000"/>
              </a:lnSpc>
              <a:spcBef>
                <a:spcPts val="0"/>
              </a:spcBef>
              <a:spcAft>
                <a:spcPts val="0"/>
              </a:spcAft>
              <a:buNone/>
            </a:pPr>
            <a:r>
              <a:rPr lang="ar-SA" sz="2200" b="0">
                <a:solidFill>
                  <a:srgbClr val="12183F"/>
                </a:solidFill>
                <a:latin typeface="Readex Pro"/>
                <a:ea typeface="Readex Pro"/>
                <a:cs typeface="Readex Pro"/>
                <a:sym typeface="Readex Pro"/>
              </a:rPr>
              <a:t>الأحاديث والسلوك والزمن؛ البروتوكول مكتوب</a:t>
            </a:r>
            <a:endParaRPr lang="ar-SA" sz="2200" b="0">
              <a:solidFill>
                <a:srgbClr val="12183F"/>
              </a:solidFill>
              <a:latin typeface="Readex Pro"/>
              <a:ea typeface="Readex Pro"/>
              <a:cs typeface="Readex Pro"/>
              <a:sym typeface="Readex Pro"/>
            </a:endParaRPr>
          </a:p>
        </p:txBody>
      </p:sp>
      <p:pic>
        <p:nvPicPr>
          <p:cNvPr id="722" name="Google Shape;722;p2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3001" name="Text 3001"/>
          <p:cNvSpPr txBox="1"/>
          <p:nvPr/>
        </p:nvSpPr>
        <p:spPr>
          <a:xfrm>
            <a:off x="1409700" y="8750000"/>
            <a:ext cx="15430500" cy="500000"/>
          </a:xfrm>
          <a:prstGeom prst="rect">
            <a:avLst/>
          </a:prstGeom>
          <a:noFill/>
          <a:ln>
            <a:noFill/>
          </a:ln>
        </p:spPr>
        <p:txBody>
          <a:bodyPr wrap="square" lIns="0" rIns="0" tIns="0" bIns="0" anchor="t" anchorCtr="0">
            <a:noAutofit/>
          </a:bodyPr>
          <a:lstStyle/>
          <a:p>
            <a:pPr marL="0" indent="0" rtl="1" algn="r">
              <a:lnSpc>
                <a:spcPct val="100000"/>
              </a:lnSpc>
              <a:spcBef>
                <a:spcPts val="0"/>
              </a:spcBef>
              <a:spcAft>
                <a:spcPts val="0"/>
              </a:spcAft>
              <a:buNone/>
            </a:pPr>
            <a:r>
              <a:rPr lang="ar-SA" sz="1800" b="0">
                <a:solidFill>
                  <a:srgbClr val="4A5590"/>
                </a:solidFill>
                <a:latin typeface="Readex Pro"/>
                <a:ea typeface="Readex Pro"/>
                <a:cs typeface="Readex Pro"/>
                <a:sym typeface="Readex Pro"/>
              </a:rPr>
              <a:t>المصادر: evaluation/gold/quran/agreement.json · SPECIALIST_REVIEW_2026-10-05.md · BENCHMARK_PROTOCOL.md</a:t>
            </a:r>
            <a:endParaRPr lang="ar-SA" sz="1800" b="0">
              <a:solidFill>
                <a:srgbClr val="4A5590"/>
              </a:solidFill>
              <a:latin typeface="Readex Pro"/>
              <a:ea typeface="Readex Pro"/>
              <a:cs typeface="Readex Pro"/>
              <a:sym typeface="Readex Pr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p21"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729" name="Google Shape;729;p21"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730" name="Google Shape;730;p2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8</a:t>
            </a:fld>
            <a:endParaRPr/>
          </a:p>
        </p:txBody>
      </p:sp>
      <p:sp>
        <p:nvSpPr>
          <p:cNvPr id="732" name="Google Shape;732;p2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6150EA"/>
                </a:solidFill>
                <a:latin typeface="Readex Pro"/>
                <a:ea typeface="Readex Pro"/>
                <a:cs typeface="Readex Pro"/>
                <a:sym typeface="Readex Pro"/>
              </a:rPr>
              <a:t>النتائج الرسمية</a:t>
            </a:r>
            <a:endParaRPr lang="ar-SA" sz="1800" b="0">
              <a:solidFill>
                <a:srgbClr val="6150EA"/>
              </a:solidFill>
              <a:latin typeface="Readex Pro"/>
              <a:ea typeface="Readex Pro"/>
              <a:cs typeface="Readex Pro"/>
              <a:sym typeface="Readex Pro"/>
            </a:endParaRPr>
          </a:p>
        </p:txBody>
      </p:sp>
      <p:sp>
        <p:nvSpPr>
          <p:cNvPr id="733" name="Google Shape;733;p2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500" b="1">
                <a:solidFill>
                  <a:srgbClr val="12183F"/>
                </a:solidFill>
                <a:latin typeface="Readex Pro"/>
                <a:ea typeface="Readex Pro"/>
                <a:cs typeface="Readex Pro"/>
                <a:sym typeface="Readex Pro"/>
              </a:rPr>
              <a:t>الدرجات تختلف بين الجولات، فكل رقم يُقرأ مع مقامه</a:t>
            </a:r>
            <a:endParaRPr lang="ar-SA" sz="4500" b="1">
              <a:solidFill>
                <a:srgbClr val="12183F"/>
              </a:solidFill>
              <a:latin typeface="Readex Pro"/>
              <a:ea typeface="Readex Pro"/>
              <a:cs typeface="Readex Pro"/>
              <a:sym typeface="Readex Pro"/>
            </a:endParaRPr>
          </a:p>
        </p:txBody>
      </p:sp>
      <p:sp>
        <p:nvSpPr>
          <p:cNvPr id="735" name="Google Shape;735;p21"/>
          <p:cNvSpPr txBox="1"/>
          <p:nvPr>
            <p:ph idx="3" type="body"/>
          </p:nvPr>
        </p:nvSpPr>
        <p:spPr>
          <a:xfrm>
            <a:off x="1409700" y="8500000"/>
            <a:ext cx="15430500" cy="6000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4A5590"/>
                </a:solidFill>
                <a:latin typeface="Readex Pro"/>
                <a:ea typeface="Readex Pro"/>
                <a:cs typeface="Readex Pro"/>
                <a:sym typeface="Readex Pro"/>
              </a:rPr>
              <a:t>«10 من 12»: عدد الحالات المحتسبة من المجموعة؛ المُحال لا يدخل الدرجة. المصدر: web/data/results.json</a:t>
            </a:r>
            <a:endParaRPr lang="ar-SA" sz="1800" b="0">
              <a:solidFill>
                <a:srgbClr val="4A5590"/>
              </a:solidFill>
              <a:latin typeface="Readex Pro"/>
              <a:ea typeface="Readex Pro"/>
              <a:cs typeface="Readex Pro"/>
              <a:sym typeface="Readex Pro"/>
            </a:endParaRPr>
          </a:p>
        </p:txBody>
      </p:sp>
      <p:graphicFrame>
        <p:nvGraphicFramePr>
          <p:cNvPr id="3001" name="Table 3001"/>
          <p:cNvGraphicFramePr>
            <a:graphicFrameLocks noGrp="1"/>
          </p:cNvGraphicFramePr>
          <p:nvPr/>
        </p:nvGraphicFramePr>
        <p:xfrm>
          <a:off x="1409700" y="3650000"/>
          <a:ext cx="15430000" cy="4700000"/>
        </p:xfrm>
        <a:graphic>
          <a:graphicData uri="http://schemas.openxmlformats.org/drawingml/2006/table">
            <a:tbl>
              <a:tblPr firstRow="1" bandRow="1">
                <a:noFill/>
              </a:tblPr>
              <a:tblGrid>
                <a:gridCol w="1850000"/>
                <a:gridCol w="1880000"/>
                <a:gridCol w="1800000"/>
                <a:gridCol w="1800000"/>
                <a:gridCol w="1800000"/>
                <a:gridCol w="1800000"/>
                <a:gridCol w="2150000"/>
                <a:gridCol w="2350000"/>
              </a:tblGrid>
              <a:tr h="700000">
                <a:tc>
                  <a:txBody>
                    <a:bodyPr/>
                    <a:lstStyle/>
                    <a:p>
                      <a:pPr marL="0" indent="0" rtl="1" algn="r">
                        <a:lnSpc>
                          <a:spcPct val="100000"/>
                        </a:lnSpc>
                        <a:spcBef>
                          <a:spcPts val="0"/>
                        </a:spcBef>
                        <a:spcAft>
                          <a:spcPts val="0"/>
                        </a:spcAft>
                        <a:buNone/>
                      </a:pPr>
                      <a:r>
                        <a:rPr lang="ar-SA" sz="2000" b="1">
                          <a:solidFill>
                            <a:srgbClr val="6150EA"/>
                          </a:solidFill>
                          <a:latin typeface="Readex Pro"/>
                          <a:ea typeface="Readex Pro"/>
                          <a:cs typeface="Readex Pro"/>
                          <a:sym typeface="Readex Pro"/>
                        </a:rPr>
                        <a:t>أُحيل لمراجعة</a:t>
                      </a:r>
                      <a:endParaRPr lang="ar-SA" sz="2000" b="1">
                        <a:solidFill>
                          <a:srgbClr val="6150EA"/>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E0D9FB"/>
                    </a:solidFill>
                  </a:tcPr>
                </a:tc>
                <a:tc>
                  <a:txBody>
                    <a:bodyPr/>
                    <a:lstStyle/>
                    <a:p>
                      <a:pPr marL="0" indent="0" rtl="1" algn="r">
                        <a:lnSpc>
                          <a:spcPct val="100000"/>
                        </a:lnSpc>
                        <a:spcBef>
                          <a:spcPts val="0"/>
                        </a:spcBef>
                        <a:spcAft>
                          <a:spcPts val="0"/>
                        </a:spcAft>
                        <a:buNone/>
                      </a:pPr>
                      <a:r>
                        <a:rPr lang="ar-SA" sz="2000" b="1">
                          <a:solidFill>
                            <a:srgbClr val="6150EA"/>
                          </a:solidFill>
                          <a:latin typeface="Readex Pro"/>
                          <a:ea typeface="Readex Pro"/>
                          <a:cs typeface="Readex Pro"/>
                          <a:sym typeface="Readex Pro"/>
                        </a:rPr>
                        <a:t>إسناد خاطئ</a:t>
                      </a:r>
                      <a:endParaRPr lang="ar-SA" sz="2000" b="1">
                        <a:solidFill>
                          <a:srgbClr val="6150EA"/>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E0D9FB"/>
                    </a:solidFill>
                  </a:tcPr>
                </a:tc>
                <a:tc>
                  <a:txBody>
                    <a:bodyPr/>
                    <a:lstStyle/>
                    <a:p>
                      <a:pPr marL="0" indent="0" rtl="1" algn="r">
                        <a:lnSpc>
                          <a:spcPct val="100000"/>
                        </a:lnSpc>
                        <a:spcBef>
                          <a:spcPts val="0"/>
                        </a:spcBef>
                        <a:spcAft>
                          <a:spcPts val="0"/>
                        </a:spcAft>
                        <a:buNone/>
                      </a:pPr>
                      <a:r>
                        <a:rPr lang="ar-SA" sz="2000" b="1">
                          <a:solidFill>
                            <a:srgbClr val="6150EA"/>
                          </a:solidFill>
                          <a:latin typeface="Readex Pro"/>
                          <a:ea typeface="Readex Pro"/>
                          <a:cs typeface="Readex Pro"/>
                          <a:sym typeface="Readex Pro"/>
                        </a:rPr>
                        <a:t>D</a:t>
                      </a:r>
                      <a:endParaRPr lang="ar-SA" sz="2000" b="1">
                        <a:solidFill>
                          <a:srgbClr val="6150EA"/>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E0D9FB"/>
                    </a:solidFill>
                  </a:tcPr>
                </a:tc>
                <a:tc>
                  <a:txBody>
                    <a:bodyPr/>
                    <a:lstStyle/>
                    <a:p>
                      <a:pPr marL="0" indent="0" rtl="1" algn="r">
                        <a:lnSpc>
                          <a:spcPct val="100000"/>
                        </a:lnSpc>
                        <a:spcBef>
                          <a:spcPts val="0"/>
                        </a:spcBef>
                        <a:spcAft>
                          <a:spcPts val="0"/>
                        </a:spcAft>
                        <a:buNone/>
                      </a:pPr>
                      <a:r>
                        <a:rPr lang="ar-SA" sz="2000" b="1">
                          <a:solidFill>
                            <a:srgbClr val="6150EA"/>
                          </a:solidFill>
                          <a:latin typeface="Readex Pro"/>
                          <a:ea typeface="Readex Pro"/>
                          <a:cs typeface="Readex Pro"/>
                          <a:sym typeface="Readex Pro"/>
                        </a:rPr>
                        <a:t>C</a:t>
                      </a:r>
                      <a:endParaRPr lang="ar-SA" sz="2000" b="1">
                        <a:solidFill>
                          <a:srgbClr val="6150EA"/>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E0D9FB"/>
                    </a:solidFill>
                  </a:tcPr>
                </a:tc>
                <a:tc>
                  <a:txBody>
                    <a:bodyPr/>
                    <a:lstStyle/>
                    <a:p>
                      <a:pPr marL="0" indent="0" rtl="1" algn="r">
                        <a:lnSpc>
                          <a:spcPct val="100000"/>
                        </a:lnSpc>
                        <a:spcBef>
                          <a:spcPts val="0"/>
                        </a:spcBef>
                        <a:spcAft>
                          <a:spcPts val="0"/>
                        </a:spcAft>
                        <a:buNone/>
                      </a:pPr>
                      <a:r>
                        <a:rPr lang="ar-SA" sz="2000" b="1">
                          <a:solidFill>
                            <a:srgbClr val="6150EA"/>
                          </a:solidFill>
                          <a:latin typeface="Readex Pro"/>
                          <a:ea typeface="Readex Pro"/>
                          <a:cs typeface="Readex Pro"/>
                          <a:sym typeface="Readex Pro"/>
                        </a:rPr>
                        <a:t>B</a:t>
                      </a:r>
                      <a:endParaRPr lang="ar-SA" sz="2000" b="1">
                        <a:solidFill>
                          <a:srgbClr val="6150EA"/>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E0D9FB"/>
                    </a:solidFill>
                  </a:tcPr>
                </a:tc>
                <a:tc>
                  <a:txBody>
                    <a:bodyPr/>
                    <a:lstStyle/>
                    <a:p>
                      <a:pPr marL="0" indent="0" rtl="1" algn="r">
                        <a:lnSpc>
                          <a:spcPct val="100000"/>
                        </a:lnSpc>
                        <a:spcBef>
                          <a:spcPts val="0"/>
                        </a:spcBef>
                        <a:spcAft>
                          <a:spcPts val="0"/>
                        </a:spcAft>
                        <a:buNone/>
                      </a:pPr>
                      <a:r>
                        <a:rPr lang="ar-SA" sz="2000" b="1">
                          <a:solidFill>
                            <a:srgbClr val="6150EA"/>
                          </a:solidFill>
                          <a:latin typeface="Readex Pro"/>
                          <a:ea typeface="Readex Pro"/>
                          <a:cs typeface="Readex Pro"/>
                          <a:sym typeface="Readex Pro"/>
                        </a:rPr>
                        <a:t>A</a:t>
                      </a:r>
                      <a:endParaRPr lang="ar-SA" sz="2000" b="1">
                        <a:solidFill>
                          <a:srgbClr val="6150EA"/>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E0D9FB"/>
                    </a:solidFill>
                  </a:tcPr>
                </a:tc>
                <a:tc>
                  <a:txBody>
                    <a:bodyPr/>
                    <a:lstStyle/>
                    <a:p>
                      <a:pPr marL="0" indent="0" rtl="1" algn="r">
                        <a:lnSpc>
                          <a:spcPct val="100000"/>
                        </a:lnSpc>
                        <a:spcBef>
                          <a:spcPts val="0"/>
                        </a:spcBef>
                        <a:spcAft>
                          <a:spcPts val="0"/>
                        </a:spcAft>
                        <a:buNone/>
                      </a:pPr>
                      <a:r>
                        <a:rPr lang="ar-SA" sz="2000" b="1">
                          <a:solidFill>
                            <a:srgbClr val="6150EA"/>
                          </a:solidFill>
                          <a:latin typeface="Readex Pro"/>
                          <a:ea typeface="Readex Pro"/>
                          <a:cs typeface="Readex Pro"/>
                          <a:sym typeface="Readex Pro"/>
                        </a:rPr>
                        <a:t>الكلية</a:t>
                      </a:r>
                      <a:endParaRPr lang="ar-SA" sz="2000" b="1">
                        <a:solidFill>
                          <a:srgbClr val="6150EA"/>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E0D9FB"/>
                    </a:solidFill>
                  </a:tcPr>
                </a:tc>
                <a:tc>
                  <a:txBody>
                    <a:bodyPr/>
                    <a:lstStyle/>
                    <a:p>
                      <a:pPr marL="0" indent="0" rtl="1" algn="r">
                        <a:lnSpc>
                          <a:spcPct val="100000"/>
                        </a:lnSpc>
                        <a:spcBef>
                          <a:spcPts val="0"/>
                        </a:spcBef>
                        <a:spcAft>
                          <a:spcPts val="0"/>
                        </a:spcAft>
                        <a:buNone/>
                      </a:pPr>
                      <a:r>
                        <a:rPr lang="ar-SA" sz="2000" b="1">
                          <a:solidFill>
                            <a:srgbClr val="6150EA"/>
                          </a:solidFill>
                          <a:latin typeface="Readex Pro"/>
                          <a:ea typeface="Readex Pro"/>
                          <a:cs typeface="Readex Pro"/>
                          <a:sym typeface="Readex Pro"/>
                        </a:rPr>
                        <a:t>الجولة</a:t>
                      </a:r>
                      <a:endParaRPr lang="ar-SA" sz="2000" b="1">
                        <a:solidFill>
                          <a:srgbClr val="6150EA"/>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E0D9FB"/>
                    </a:solidFill>
                  </a:tcPr>
                </a:tc>
              </a:tr>
              <a:tr h="1000000">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2</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0</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0.0</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1 من 1</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بلا درجة</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0 من 1</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76.0</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8 من 8</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66.7</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1 من 2</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67.5</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10 من 12</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baseline-1</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r>
              <a:tr h="1000000">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2</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1</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0.0</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1 من 1</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بلا درجة</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0 من 1</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74.5</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7 من 8</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83.3</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2 من 2</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68.8</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10 من 12</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baseline-2</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r>
              <a:tr h="1000000">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3</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2</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0.0</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1 من 1</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بلا درجة</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0 من 1</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54.3</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7 من 8</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100.0</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1 من 2</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53.3</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9 من 12</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baseline-3</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r>
              <a:tr h="1000000">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0</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0</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25.0</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1 من 1</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50.0</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1 من 1</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54.0</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8 من 8</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83.3</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2 من 2</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100" b="1">
                          <a:solidFill>
                            <a:srgbClr val="12183F"/>
                          </a:solidFill>
                          <a:latin typeface="Readex Pro"/>
                          <a:ea typeface="Readex Pro"/>
                          <a:cs typeface="Readex Pro"/>
                          <a:sym typeface="Readex Pro"/>
                        </a:rPr>
                        <a:t>56.1</a:t>
                      </a:r>
                      <a:endParaRPr lang="ar-SA" sz="2100" b="1">
                        <a:solidFill>
                          <a:srgbClr val="12183F"/>
                        </a:solidFill>
                        <a:latin typeface="Readex Pro"/>
                        <a:ea typeface="Readex Pro"/>
                        <a:cs typeface="Readex Pro"/>
                        <a:sym typeface="Readex Pro"/>
                      </a:endParaRPr>
                    </a:p>
                    <a:p>
                      <a:pPr marL="0" indent="0" rtl="1" algn="r">
                        <a:lnSpc>
                          <a:spcPct val="100000"/>
                        </a:lnSpc>
                        <a:spcBef>
                          <a:spcPts val="0"/>
                        </a:spcBef>
                        <a:spcAft>
                          <a:spcPts val="0"/>
                        </a:spcAft>
                        <a:buNone/>
                      </a:pPr>
                      <a:r>
                        <a:rPr lang="ar-SA" sz="1600" b="0">
                          <a:solidFill>
                            <a:srgbClr val="4A5590"/>
                          </a:solidFill>
                          <a:latin typeface="Readex Pro"/>
                          <a:ea typeface="Readex Pro"/>
                          <a:cs typeface="Readex Pro"/>
                          <a:sym typeface="Readex Pro"/>
                        </a:rPr>
                        <a:t>12 من 12</a:t>
                      </a:r>
                      <a:endParaRPr lang="ar-SA" sz="1600" b="0">
                        <a:solidFill>
                          <a:srgbClr val="4A5590"/>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rag-2</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2EF2C2"/>
                </a:solidFill>
                <a:latin typeface="Readex Pro"/>
                <a:ea typeface="Readex Pro"/>
                <a:cs typeface="Readex Pro"/>
                <a:sym typeface="Readex Pro"/>
              </a:rPr>
              <a:t>آلية العمل</a:t>
            </a:r>
            <a:endParaRPr lang="ar-SA" sz="1800" b="0">
              <a:solidFill>
                <a:srgbClr val="2EF2C2"/>
              </a:solidFill>
              <a:latin typeface="Readex Pro"/>
              <a:ea typeface="Readex Pro"/>
              <a:cs typeface="Readex Pro"/>
              <a:sym typeface="Readex Pro"/>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500" b="1">
                <a:solidFill>
                  <a:srgbClr val="F2F4FF"/>
                </a:solidFill>
                <a:latin typeface="Readex Pro"/>
                <a:ea typeface="Readex Pro"/>
                <a:cs typeface="Readex Pro"/>
                <a:sym typeface="Readex Pro"/>
              </a:rPr>
              <a:t>أربع خطوات من السؤال إلى قرار النشر</a:t>
            </a:r>
            <a:endParaRPr lang="ar-SA" sz="4500" b="1">
              <a:solidFill>
                <a:srgbClr val="F2F4FF"/>
              </a:solidFill>
              <a:latin typeface="Readex Pro"/>
              <a:ea typeface="Readex Pro"/>
              <a:cs typeface="Readex Pro"/>
              <a:sym typeface="Readex Pro"/>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4</a:t>
            </a:fld>
            <a:endParaRPr/>
          </a:p>
        </p:txBody>
      </p:sp>
      <p:sp>
        <p:nvSpPr>
          <p:cNvPr id="822" name="Google Shape;822;p24"/>
          <p:cNvSpPr/>
          <p:nvPr/>
        </p:nvSpPr>
        <p:spPr>
          <a:xfrm>
            <a:off x="13716000" y="4000000"/>
            <a:ext cx="3429000" cy="30000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t" bIns="78400" lIns="78400" spcFirstLastPara="1" rIns="78400" wrap="square" tIns="78400">
            <a:noAutofit/>
          </a:bodyPr>
          <a:lstStyle/>
          <a:p>
            <a:pPr marL="0" indent="0" rtl="1" algn="r">
              <a:lnSpc>
                <a:spcPct val="100000"/>
              </a:lnSpc>
              <a:spcBef>
                <a:spcPts val="0"/>
              </a:spcBef>
              <a:spcAft>
                <a:spcPts val="0"/>
              </a:spcAft>
              <a:buNone/>
            </a:pPr>
            <a:r>
              <a:rPr lang="ar-SA" sz="3600" b="1">
                <a:solidFill>
                  <a:srgbClr val="2EF2C2"/>
                </a:solidFill>
                <a:latin typeface="Readex Pro"/>
                <a:ea typeface="Readex Pro"/>
                <a:cs typeface="Readex Pro"/>
                <a:sym typeface="Readex Pro"/>
              </a:rPr>
              <a:t>01</a:t>
            </a:r>
            <a:endParaRPr lang="ar-SA" sz="3600" b="1">
              <a:solidFill>
                <a:srgbClr val="2EF2C2"/>
              </a:solidFill>
              <a:latin typeface="Readex Pro"/>
              <a:ea typeface="Readex Pro"/>
              <a:cs typeface="Readex Pro"/>
              <a:sym typeface="Readex Pro"/>
            </a:endParaRPr>
          </a:p>
          <a:p>
            <a:pPr marL="0" indent="0" rtl="1" algn="r">
              <a:lnSpc>
                <a:spcPct val="100000"/>
              </a:lnSpc>
              <a:spcBef>
                <a:spcPts val="1800"/>
              </a:spcBef>
              <a:spcAft>
                <a:spcPts val="0"/>
              </a:spcAft>
              <a:buNone/>
            </a:pPr>
            <a:r>
              <a:rPr lang="ar-SA" sz="2700" b="1">
                <a:solidFill>
                  <a:srgbClr val="F2F4FF"/>
                </a:solidFill>
                <a:latin typeface="Readex Pro"/>
                <a:ea typeface="Readex Pro"/>
                <a:cs typeface="Readex Pro"/>
                <a:sym typeface="Readex Pro"/>
              </a:rPr>
              <a:t>يجيب المساعد</a:t>
            </a:r>
            <a:endParaRPr lang="ar-SA" sz="2700" b="1">
              <a:solidFill>
                <a:srgbClr val="F2F4FF"/>
              </a:solidFill>
              <a:latin typeface="Readex Pro"/>
              <a:ea typeface="Readex Pro"/>
              <a:cs typeface="Readex Pro"/>
              <a:sym typeface="Readex Pro"/>
            </a:endParaRPr>
          </a:p>
          <a:p>
            <a:pPr marL="0" indent="0" rtl="1" algn="r">
              <a:lnSpc>
                <a:spcPct val="110000"/>
              </a:lnSpc>
              <a:spcBef>
                <a:spcPts val="1000"/>
              </a:spcBef>
              <a:spcAft>
                <a:spcPts val="0"/>
              </a:spcAft>
              <a:buNone/>
            </a:pPr>
            <a:r>
              <a:rPr lang="ar-SA" sz="2200" b="0">
                <a:solidFill>
                  <a:srgbClr val="8E99CC"/>
                </a:solidFill>
                <a:latin typeface="Readex Pro"/>
                <a:ea typeface="Readex Pro"/>
                <a:cs typeface="Readex Pro"/>
                <a:sym typeface="Readex Pro"/>
              </a:rPr>
              <a:t>12 حالة رسمية</a:t>
            </a:r>
            <a:endParaRPr lang="ar-SA" sz="2200" b="0">
              <a:solidFill>
                <a:srgbClr val="8E99CC"/>
              </a:solidFill>
              <a:latin typeface="Readex Pro"/>
              <a:ea typeface="Readex Pro"/>
              <a:cs typeface="Readex Pro"/>
              <a:sym typeface="Readex Pro"/>
            </a:endParaRPr>
          </a:p>
        </p:txBody>
      </p:sp>
      <p:sp>
        <p:nvSpPr>
          <p:cNvPr id="823" name="Google Shape;823;p24"/>
          <p:cNvSpPr/>
          <p:nvPr/>
        </p:nvSpPr>
        <p:spPr>
          <a:xfrm>
            <a:off x="9715500" y="4000000"/>
            <a:ext cx="3429000" cy="30000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t" bIns="78400" lIns="78400" spcFirstLastPara="1" rIns="78400" wrap="square" tIns="78400">
            <a:noAutofit/>
          </a:bodyPr>
          <a:lstStyle/>
          <a:p>
            <a:pPr marL="0" indent="0" rtl="1" algn="r">
              <a:lnSpc>
                <a:spcPct val="100000"/>
              </a:lnSpc>
              <a:spcBef>
                <a:spcPts val="0"/>
              </a:spcBef>
              <a:spcAft>
                <a:spcPts val="0"/>
              </a:spcAft>
              <a:buNone/>
            </a:pPr>
            <a:r>
              <a:rPr lang="ar-SA" sz="3600" b="1">
                <a:solidFill>
                  <a:srgbClr val="2EF2C2"/>
                </a:solidFill>
                <a:latin typeface="Readex Pro"/>
                <a:ea typeface="Readex Pro"/>
                <a:cs typeface="Readex Pro"/>
                <a:sym typeface="Readex Pro"/>
              </a:rPr>
              <a:t>02</a:t>
            </a:r>
            <a:endParaRPr lang="ar-SA" sz="3600" b="1">
              <a:solidFill>
                <a:srgbClr val="2EF2C2"/>
              </a:solidFill>
              <a:latin typeface="Readex Pro"/>
              <a:ea typeface="Readex Pro"/>
              <a:cs typeface="Readex Pro"/>
              <a:sym typeface="Readex Pro"/>
            </a:endParaRPr>
          </a:p>
          <a:p>
            <a:pPr marL="0" indent="0" rtl="1" algn="r">
              <a:lnSpc>
                <a:spcPct val="100000"/>
              </a:lnSpc>
              <a:spcBef>
                <a:spcPts val="1800"/>
              </a:spcBef>
              <a:spcAft>
                <a:spcPts val="0"/>
              </a:spcAft>
              <a:buNone/>
            </a:pPr>
            <a:r>
              <a:rPr lang="ar-SA" sz="2700" b="1">
                <a:solidFill>
                  <a:srgbClr val="F2F4FF"/>
                </a:solidFill>
                <a:latin typeface="Readex Pro"/>
                <a:ea typeface="Readex Pro"/>
                <a:cs typeface="Readex Pro"/>
                <a:sym typeface="Readex Pro"/>
              </a:rPr>
              <a:t>يُستخرج ويُطابَق</a:t>
            </a:r>
            <a:endParaRPr lang="ar-SA" sz="2700" b="1">
              <a:solidFill>
                <a:srgbClr val="F2F4FF"/>
              </a:solidFill>
              <a:latin typeface="Readex Pro"/>
              <a:ea typeface="Readex Pro"/>
              <a:cs typeface="Readex Pro"/>
              <a:sym typeface="Readex Pro"/>
            </a:endParaRPr>
          </a:p>
          <a:p>
            <a:pPr marL="0" indent="0" rtl="1" algn="r">
              <a:lnSpc>
                <a:spcPct val="110000"/>
              </a:lnSpc>
              <a:spcBef>
                <a:spcPts val="1000"/>
              </a:spcBef>
              <a:spcAft>
                <a:spcPts val="0"/>
              </a:spcAft>
              <a:buNone/>
            </a:pPr>
            <a:r>
              <a:rPr lang="ar-SA" sz="2200" b="0">
                <a:solidFill>
                  <a:srgbClr val="8E99CC"/>
                </a:solidFill>
                <a:latin typeface="Readex Pro"/>
                <a:ea typeface="Readex Pro"/>
                <a:cs typeface="Readex Pro"/>
                <a:sym typeface="Readex Pro"/>
              </a:rPr>
              <a:t>الآيات حرفياً بلا نموذج لغوي</a:t>
            </a:r>
            <a:endParaRPr lang="ar-SA" sz="2200" b="0">
              <a:solidFill>
                <a:srgbClr val="8E99CC"/>
              </a:solidFill>
              <a:latin typeface="Readex Pro"/>
              <a:ea typeface="Readex Pro"/>
              <a:cs typeface="Readex Pro"/>
              <a:sym typeface="Readex Pro"/>
            </a:endParaRPr>
          </a:p>
        </p:txBody>
      </p:sp>
      <p:sp>
        <p:nvSpPr>
          <p:cNvPr id="824" name="Google Shape;824;p24"/>
          <p:cNvSpPr/>
          <p:nvPr/>
        </p:nvSpPr>
        <p:spPr>
          <a:xfrm>
            <a:off x="5715000" y="4000000"/>
            <a:ext cx="3429000" cy="30000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t" bIns="78400" lIns="78400" spcFirstLastPara="1" rIns="78400" wrap="square" tIns="78400">
            <a:noAutofit/>
          </a:bodyPr>
          <a:lstStyle/>
          <a:p>
            <a:pPr marL="0" indent="0" rtl="1" algn="r">
              <a:lnSpc>
                <a:spcPct val="100000"/>
              </a:lnSpc>
              <a:spcBef>
                <a:spcPts val="0"/>
              </a:spcBef>
              <a:spcAft>
                <a:spcPts val="0"/>
              </a:spcAft>
              <a:buNone/>
            </a:pPr>
            <a:r>
              <a:rPr lang="ar-SA" sz="3600" b="1">
                <a:solidFill>
                  <a:srgbClr val="2EF2C2"/>
                </a:solidFill>
                <a:latin typeface="Readex Pro"/>
                <a:ea typeface="Readex Pro"/>
                <a:cs typeface="Readex Pro"/>
                <a:sym typeface="Readex Pro"/>
              </a:rPr>
              <a:t>03</a:t>
            </a:r>
            <a:endParaRPr lang="ar-SA" sz="3600" b="1">
              <a:solidFill>
                <a:srgbClr val="2EF2C2"/>
              </a:solidFill>
              <a:latin typeface="Readex Pro"/>
              <a:ea typeface="Readex Pro"/>
              <a:cs typeface="Readex Pro"/>
              <a:sym typeface="Readex Pro"/>
            </a:endParaRPr>
          </a:p>
          <a:p>
            <a:pPr marL="0" indent="0" rtl="1" algn="r">
              <a:lnSpc>
                <a:spcPct val="100000"/>
              </a:lnSpc>
              <a:spcBef>
                <a:spcPts val="1800"/>
              </a:spcBef>
              <a:spcAft>
                <a:spcPts val="0"/>
              </a:spcAft>
              <a:buNone/>
            </a:pPr>
            <a:r>
              <a:rPr lang="ar-SA" sz="2700" b="1">
                <a:solidFill>
                  <a:srgbClr val="F2F4FF"/>
                </a:solidFill>
                <a:latin typeface="Readex Pro"/>
                <a:ea typeface="Readex Pro"/>
                <a:cs typeface="Readex Pro"/>
                <a:sym typeface="Readex Pro"/>
              </a:rPr>
              <a:t>يُحكم السلوك</a:t>
            </a:r>
            <a:endParaRPr lang="ar-SA" sz="2700" b="1">
              <a:solidFill>
                <a:srgbClr val="F2F4FF"/>
              </a:solidFill>
              <a:latin typeface="Readex Pro"/>
              <a:ea typeface="Readex Pro"/>
              <a:cs typeface="Readex Pro"/>
              <a:sym typeface="Readex Pro"/>
            </a:endParaRPr>
          </a:p>
          <a:p>
            <a:pPr marL="0" indent="0" rtl="1" algn="r">
              <a:lnSpc>
                <a:spcPct val="110000"/>
              </a:lnSpc>
              <a:spcBef>
                <a:spcPts val="1000"/>
              </a:spcBef>
              <a:spcAft>
                <a:spcPts val="0"/>
              </a:spcAft>
              <a:buNone/>
            </a:pPr>
            <a:r>
              <a:rPr lang="ar-SA" sz="2200" b="0">
                <a:solidFill>
                  <a:srgbClr val="8E99CC"/>
                </a:solidFill>
                <a:latin typeface="Readex Pro"/>
                <a:ea typeface="Readex Pro"/>
                <a:cs typeface="Readex Pro"/>
                <a:sym typeface="Readex Pro"/>
              </a:rPr>
              <a:t>ثقة دون 0.75: مراجعة بشرية</a:t>
            </a:r>
            <a:endParaRPr lang="ar-SA" sz="2200" b="0">
              <a:solidFill>
                <a:srgbClr val="8E99CC"/>
              </a:solidFill>
              <a:latin typeface="Readex Pro"/>
              <a:ea typeface="Readex Pro"/>
              <a:cs typeface="Readex Pro"/>
              <a:sym typeface="Readex Pro"/>
            </a:endParaRPr>
          </a:p>
        </p:txBody>
      </p:sp>
      <p:sp>
        <p:nvSpPr>
          <p:cNvPr id="825" name="Google Shape;825;p24"/>
          <p:cNvSpPr/>
          <p:nvPr/>
        </p:nvSpPr>
        <p:spPr>
          <a:xfrm>
            <a:off x="1714500" y="4000000"/>
            <a:ext cx="3429000" cy="30000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t" bIns="78400" lIns="78400" spcFirstLastPara="1" rIns="78400" wrap="square" tIns="78400">
            <a:noAutofit/>
          </a:bodyPr>
          <a:lstStyle/>
          <a:p>
            <a:pPr marL="0" indent="0" rtl="1" algn="r">
              <a:lnSpc>
                <a:spcPct val="100000"/>
              </a:lnSpc>
              <a:spcBef>
                <a:spcPts val="0"/>
              </a:spcBef>
              <a:spcAft>
                <a:spcPts val="0"/>
              </a:spcAft>
              <a:buNone/>
            </a:pPr>
            <a:r>
              <a:rPr lang="ar-SA" sz="3600" b="1">
                <a:solidFill>
                  <a:srgbClr val="2EF2C2"/>
                </a:solidFill>
                <a:latin typeface="Readex Pro"/>
                <a:ea typeface="Readex Pro"/>
                <a:cs typeface="Readex Pro"/>
                <a:sym typeface="Readex Pro"/>
              </a:rPr>
              <a:t>04</a:t>
            </a:r>
            <a:endParaRPr lang="ar-SA" sz="3600" b="1">
              <a:solidFill>
                <a:srgbClr val="2EF2C2"/>
              </a:solidFill>
              <a:latin typeface="Readex Pro"/>
              <a:ea typeface="Readex Pro"/>
              <a:cs typeface="Readex Pro"/>
              <a:sym typeface="Readex Pro"/>
            </a:endParaRPr>
          </a:p>
          <a:p>
            <a:pPr marL="0" indent="0" rtl="1" algn="r">
              <a:lnSpc>
                <a:spcPct val="100000"/>
              </a:lnSpc>
              <a:spcBef>
                <a:spcPts val="1800"/>
              </a:spcBef>
              <a:spcAft>
                <a:spcPts val="0"/>
              </a:spcAft>
              <a:buNone/>
            </a:pPr>
            <a:r>
              <a:rPr lang="ar-SA" sz="2700" b="1">
                <a:solidFill>
                  <a:srgbClr val="F2F4FF"/>
                </a:solidFill>
                <a:latin typeface="Readex Pro"/>
                <a:ea typeface="Readex Pro"/>
                <a:cs typeface="Readex Pro"/>
                <a:sym typeface="Readex Pro"/>
              </a:rPr>
              <a:t>تُحسب البوابة</a:t>
            </a:r>
            <a:endParaRPr lang="ar-SA" sz="2700" b="1">
              <a:solidFill>
                <a:srgbClr val="F2F4FF"/>
              </a:solidFill>
              <a:latin typeface="Readex Pro"/>
              <a:ea typeface="Readex Pro"/>
              <a:cs typeface="Readex Pro"/>
              <a:sym typeface="Readex Pro"/>
            </a:endParaRPr>
          </a:p>
          <a:p>
            <a:pPr marL="0" indent="0" rtl="1" algn="r">
              <a:lnSpc>
                <a:spcPct val="110000"/>
              </a:lnSpc>
              <a:spcBef>
                <a:spcPts val="1000"/>
              </a:spcBef>
              <a:spcAft>
                <a:spcPts val="0"/>
              </a:spcAft>
              <a:buNone/>
            </a:pPr>
            <a:r>
              <a:rPr lang="ar-SA" sz="2200" b="0">
                <a:solidFill>
                  <a:srgbClr val="8E99CC"/>
                </a:solidFill>
                <a:latin typeface="Readex Pro"/>
                <a:ea typeface="Readex Pro"/>
                <a:cs typeface="Readex Pro"/>
                <a:sym typeface="Readex Pro"/>
              </a:rPr>
              <a:t>درجة بمقامها، ثم نشر أو منع</a:t>
            </a:r>
            <a:endParaRPr lang="ar-SA" sz="2200" b="0">
              <a:solidFill>
                <a:srgbClr val="8E99CC"/>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pic>
        <p:nvPicPr>
          <p:cNvPr id="842" name="Google Shape;842;p26"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43" name="Google Shape;843;p26"/>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2EF2C2"/>
                </a:solidFill>
                <a:latin typeface="Readex Pro"/>
                <a:ea typeface="Readex Pro"/>
                <a:cs typeface="Readex Pro"/>
                <a:sym typeface="Readex Pro"/>
              </a:rPr>
              <a:t>من المنتج</a:t>
            </a:r>
            <a:endParaRPr lang="ar-SA" sz="1800" b="0">
              <a:solidFill>
                <a:srgbClr val="2EF2C2"/>
              </a:solidFill>
              <a:latin typeface="Readex Pro"/>
              <a:ea typeface="Readex Pro"/>
              <a:cs typeface="Readex Pro"/>
              <a:sym typeface="Readex Pro"/>
            </a:endParaRPr>
          </a:p>
        </p:txBody>
      </p:sp>
      <p:sp>
        <p:nvSpPr>
          <p:cNvPr id="844" name="Google Shape;844;p26"/>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500" b="1">
                <a:solidFill>
                  <a:srgbClr val="F2F4FF"/>
                </a:solidFill>
                <a:latin typeface="Readex Pro"/>
                <a:ea typeface="Readex Pro"/>
                <a:cs typeface="Readex Pro"/>
                <a:sym typeface="Readex Pro"/>
              </a:rPr>
              <a:t>المنتج يعمل الآن بنتائج محفوظة قابلة للتتبّع</a:t>
            </a:r>
            <a:endParaRPr lang="ar-SA" sz="4500" b="1">
              <a:solidFill>
                <a:srgbClr val="F2F4FF"/>
              </a:solidFill>
              <a:latin typeface="Readex Pro"/>
              <a:ea typeface="Readex Pro"/>
              <a:cs typeface="Readex Pro"/>
              <a:sym typeface="Readex Pro"/>
            </a:endParaRPr>
          </a:p>
        </p:txBody>
      </p:sp>
      <p:sp>
        <p:nvSpPr>
          <p:cNvPr id="845" name="Google Shape;845;p2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12</a:t>
            </a:fld>
            <a:endParaRPr/>
          </a:p>
        </p:txBody>
      </p:sp>
      <p:pic>
        <p:nvPicPr>
          <p:cNvPr id="850" name="Google Shape;850;p26"/>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pic>
        <p:nvPicPr>
          <p:cNvPr id="3001" name="Picture 3001" descr="لقطة من الموقع الحي: الرئيسية"/>
          <p:cNvPicPr>
            <a:picLocks noChangeAspect="1"/>
          </p:cNvPicPr>
          <p:nvPr/>
        </p:nvPicPr>
        <p:blipFill>
          <a:blip r:embed="rId5"/>
          <a:stretch>
            <a:fillRect/>
          </a:stretch>
        </p:blipFill>
        <p:spPr>
          <a:xfrm>
            <a:off x="11940200" y="3000000"/>
            <a:ext cx="4900000" cy="2450000"/>
          </a:xfrm>
          <a:prstGeom prst="roundRect">
            <a:avLst>
              <a:gd name="adj" fmla="val 3000"/>
            </a:avLst>
          </a:prstGeom>
          <a:ln w="12700">
            <a:solidFill>
              <a:srgbClr val="4A5590"/>
            </a:solidFill>
          </a:ln>
        </p:spPr>
      </p:pic>
      <p:sp>
        <p:nvSpPr>
          <p:cNvPr id="3002" name="Text 3002"/>
          <p:cNvSpPr txBox="1"/>
          <p:nvPr/>
        </p:nvSpPr>
        <p:spPr>
          <a:xfrm>
            <a:off x="11540200" y="5500000"/>
            <a:ext cx="5700000" cy="420000"/>
          </a:xfrm>
          <a:prstGeom prst="rect">
            <a:avLst/>
          </a:prstGeom>
          <a:noFill/>
          <a:ln>
            <a:noFill/>
          </a:ln>
        </p:spPr>
        <p:txBody>
          <a:bodyPr wrap="square" lIns="0" rIns="0" tIns="0" bIns="0" anchor="t" anchorCtr="0">
            <a:noAutofit/>
          </a:bodyPr>
          <a:lstStyle/>
          <a:p>
            <a:pPr marL="0" indent="0" rtl="1" algn="ctr">
              <a:lnSpc>
                <a:spcPct val="100000"/>
              </a:lnSpc>
              <a:spcBef>
                <a:spcPts val="0"/>
              </a:spcBef>
              <a:spcAft>
                <a:spcPts val="0"/>
              </a:spcAft>
              <a:buNone/>
            </a:pPr>
            <a:r>
              <a:rPr lang="ar-SA" sz="1800" b="0">
                <a:solidFill>
                  <a:srgbClr val="F2F4FF"/>
                </a:solidFill>
                <a:latin typeface="Readex Pro"/>
                <a:ea typeface="Readex Pro"/>
                <a:cs typeface="Readex Pro"/>
                <a:sym typeface="Readex Pro"/>
              </a:rPr>
              <a:t>الرئيسية</a:t>
            </a:r>
            <a:endParaRPr lang="ar-SA" sz="1800" b="0">
              <a:solidFill>
                <a:srgbClr val="F2F4FF"/>
              </a:solidFill>
              <a:latin typeface="Readex Pro"/>
              <a:ea typeface="Readex Pro"/>
              <a:cs typeface="Readex Pro"/>
              <a:sym typeface="Readex Pro"/>
            </a:endParaRPr>
          </a:p>
        </p:txBody>
      </p:sp>
      <p:pic>
        <p:nvPicPr>
          <p:cNvPr id="3003" name="Picture 3003" descr="لقطة من الموقع الحي: النتائج وقرار البوابة"/>
          <p:cNvPicPr>
            <a:picLocks noChangeAspect="1"/>
          </p:cNvPicPr>
          <p:nvPr/>
        </p:nvPicPr>
        <p:blipFill>
          <a:blip r:embed="rId6"/>
          <a:stretch>
            <a:fillRect/>
          </a:stretch>
        </p:blipFill>
        <p:spPr>
          <a:xfrm>
            <a:off x="6675200" y="3000000"/>
            <a:ext cx="4900000" cy="2450000"/>
          </a:xfrm>
          <a:prstGeom prst="roundRect">
            <a:avLst>
              <a:gd name="adj" fmla="val 3000"/>
            </a:avLst>
          </a:prstGeom>
          <a:ln w="12700">
            <a:solidFill>
              <a:srgbClr val="4A5590"/>
            </a:solidFill>
          </a:ln>
        </p:spPr>
      </p:pic>
      <p:sp>
        <p:nvSpPr>
          <p:cNvPr id="3004" name="Text 3004"/>
          <p:cNvSpPr txBox="1"/>
          <p:nvPr/>
        </p:nvSpPr>
        <p:spPr>
          <a:xfrm>
            <a:off x="6275200" y="5500000"/>
            <a:ext cx="5700000" cy="420000"/>
          </a:xfrm>
          <a:prstGeom prst="rect">
            <a:avLst/>
          </a:prstGeom>
          <a:noFill/>
          <a:ln>
            <a:noFill/>
          </a:ln>
        </p:spPr>
        <p:txBody>
          <a:bodyPr wrap="square" lIns="0" rIns="0" tIns="0" bIns="0" anchor="t" anchorCtr="0">
            <a:noAutofit/>
          </a:bodyPr>
          <a:lstStyle/>
          <a:p>
            <a:pPr marL="0" indent="0" rtl="1" algn="ctr">
              <a:lnSpc>
                <a:spcPct val="100000"/>
              </a:lnSpc>
              <a:spcBef>
                <a:spcPts val="0"/>
              </a:spcBef>
              <a:spcAft>
                <a:spcPts val="0"/>
              </a:spcAft>
              <a:buNone/>
            </a:pPr>
            <a:r>
              <a:rPr lang="ar-SA" sz="1800" b="0">
                <a:solidFill>
                  <a:srgbClr val="F2F4FF"/>
                </a:solidFill>
                <a:latin typeface="Readex Pro"/>
                <a:ea typeface="Readex Pro"/>
                <a:cs typeface="Readex Pro"/>
                <a:sym typeface="Readex Pro"/>
              </a:rPr>
              <a:t>النتائج وقرار البوابة</a:t>
            </a:r>
            <a:endParaRPr lang="ar-SA" sz="1800" b="0">
              <a:solidFill>
                <a:srgbClr val="F2F4FF"/>
              </a:solidFill>
              <a:latin typeface="Readex Pro"/>
              <a:ea typeface="Readex Pro"/>
              <a:cs typeface="Readex Pro"/>
              <a:sym typeface="Readex Pro"/>
            </a:endParaRPr>
          </a:p>
        </p:txBody>
      </p:sp>
      <p:pic>
        <p:nvPicPr>
          <p:cNvPr id="3005" name="Picture 3005" descr="لقطة من الموقع الحي: حالة OFF-06 وسجلها الرسمي"/>
          <p:cNvPicPr>
            <a:picLocks noChangeAspect="1"/>
          </p:cNvPicPr>
          <p:nvPr/>
        </p:nvPicPr>
        <p:blipFill>
          <a:blip r:embed="rId7"/>
          <a:stretch>
            <a:fillRect/>
          </a:stretch>
        </p:blipFill>
        <p:spPr>
          <a:xfrm>
            <a:off x="1409700" y="3000000"/>
            <a:ext cx="4900000" cy="2450000"/>
          </a:xfrm>
          <a:prstGeom prst="roundRect">
            <a:avLst>
              <a:gd name="adj" fmla="val 3000"/>
            </a:avLst>
          </a:prstGeom>
          <a:ln w="12700">
            <a:solidFill>
              <a:srgbClr val="4A5590"/>
            </a:solidFill>
          </a:ln>
        </p:spPr>
      </p:pic>
      <p:sp>
        <p:nvSpPr>
          <p:cNvPr id="3006" name="Text 3006"/>
          <p:cNvSpPr txBox="1"/>
          <p:nvPr/>
        </p:nvSpPr>
        <p:spPr>
          <a:xfrm>
            <a:off x="1009700" y="5500000"/>
            <a:ext cx="5700000" cy="420000"/>
          </a:xfrm>
          <a:prstGeom prst="rect">
            <a:avLst/>
          </a:prstGeom>
          <a:noFill/>
          <a:ln>
            <a:noFill/>
          </a:ln>
        </p:spPr>
        <p:txBody>
          <a:bodyPr wrap="square" lIns="0" rIns="0" tIns="0" bIns="0" anchor="t" anchorCtr="0">
            <a:noAutofit/>
          </a:bodyPr>
          <a:lstStyle/>
          <a:p>
            <a:pPr marL="0" indent="0" rtl="1" algn="ctr">
              <a:lnSpc>
                <a:spcPct val="100000"/>
              </a:lnSpc>
              <a:spcBef>
                <a:spcPts val="0"/>
              </a:spcBef>
              <a:spcAft>
                <a:spcPts val="0"/>
              </a:spcAft>
              <a:buNone/>
            </a:pPr>
            <a:r>
              <a:rPr lang="ar-SA" sz="1800" b="0">
                <a:solidFill>
                  <a:srgbClr val="F2F4FF"/>
                </a:solidFill>
                <a:latin typeface="Readex Pro"/>
                <a:ea typeface="Readex Pro"/>
                <a:cs typeface="Readex Pro"/>
                <a:sym typeface="Readex Pro"/>
              </a:rPr>
              <a:t>حالة OFF-06 وسجلها الرسمي</a:t>
            </a:r>
            <a:endParaRPr lang="ar-SA" sz="1800" b="0">
              <a:solidFill>
                <a:srgbClr val="F2F4FF"/>
              </a:solidFill>
              <a:latin typeface="Readex Pro"/>
              <a:ea typeface="Readex Pro"/>
              <a:cs typeface="Readex Pro"/>
              <a:sym typeface="Readex Pro"/>
            </a:endParaRPr>
          </a:p>
        </p:txBody>
      </p:sp>
      <p:pic>
        <p:nvPicPr>
          <p:cNvPr id="3007" name="Picture 3007" descr="لقطة من الموقع الحي: إعادة عرض لتشغيل رسمي محفوظ، وليس تشغيلاً حياً"/>
          <p:cNvPicPr>
            <a:picLocks noChangeAspect="1"/>
          </p:cNvPicPr>
          <p:nvPr/>
        </p:nvPicPr>
        <p:blipFill>
          <a:blip r:embed="rId8"/>
          <a:stretch>
            <a:fillRect/>
          </a:stretch>
        </p:blipFill>
        <p:spPr>
          <a:xfrm>
            <a:off x="9624950" y="6080000"/>
            <a:ext cx="4900000" cy="2450000"/>
          </a:xfrm>
          <a:prstGeom prst="roundRect">
            <a:avLst>
              <a:gd name="adj" fmla="val 3000"/>
            </a:avLst>
          </a:prstGeom>
          <a:ln w="12700">
            <a:solidFill>
              <a:srgbClr val="4A5590"/>
            </a:solidFill>
          </a:ln>
        </p:spPr>
      </p:pic>
      <p:sp>
        <p:nvSpPr>
          <p:cNvPr id="3008" name="Text 3008"/>
          <p:cNvSpPr txBox="1"/>
          <p:nvPr/>
        </p:nvSpPr>
        <p:spPr>
          <a:xfrm>
            <a:off x="9224950" y="8580000"/>
            <a:ext cx="5700000" cy="420000"/>
          </a:xfrm>
          <a:prstGeom prst="rect">
            <a:avLst/>
          </a:prstGeom>
          <a:noFill/>
          <a:ln>
            <a:noFill/>
          </a:ln>
        </p:spPr>
        <p:txBody>
          <a:bodyPr wrap="square" lIns="0" rIns="0" tIns="0" bIns="0" anchor="t" anchorCtr="0">
            <a:noAutofit/>
          </a:bodyPr>
          <a:lstStyle/>
          <a:p>
            <a:pPr marL="0" indent="0" rtl="1" algn="ctr">
              <a:lnSpc>
                <a:spcPct val="100000"/>
              </a:lnSpc>
              <a:spcBef>
                <a:spcPts val="0"/>
              </a:spcBef>
              <a:spcAft>
                <a:spcPts val="0"/>
              </a:spcAft>
              <a:buNone/>
            </a:pPr>
            <a:r>
              <a:rPr lang="ar-SA" sz="1800" b="0">
                <a:solidFill>
                  <a:srgbClr val="F2F4FF"/>
                </a:solidFill>
                <a:latin typeface="Readex Pro"/>
                <a:ea typeface="Readex Pro"/>
                <a:cs typeface="Readex Pro"/>
                <a:sym typeface="Readex Pro"/>
              </a:rPr>
              <a:t>إعادة عرض لتشغيل رسمي محفوظ، وليس تشغيلاً حياً</a:t>
            </a:r>
            <a:endParaRPr lang="ar-SA" sz="1800" b="0">
              <a:solidFill>
                <a:srgbClr val="F2F4FF"/>
              </a:solidFill>
              <a:latin typeface="Readex Pro"/>
              <a:ea typeface="Readex Pro"/>
              <a:cs typeface="Readex Pro"/>
              <a:sym typeface="Readex Pro"/>
            </a:endParaRPr>
          </a:p>
        </p:txBody>
      </p:sp>
      <p:pic>
        <p:nvPicPr>
          <p:cNvPr id="3009" name="Picture 3009" descr="لقطة من الموقع الحي: التحقق: آية منقولة محرّفة (EXT-033)"/>
          <p:cNvPicPr>
            <a:picLocks noChangeAspect="1"/>
          </p:cNvPicPr>
          <p:nvPr/>
        </p:nvPicPr>
        <p:blipFill>
          <a:blip r:embed="rId9"/>
          <a:stretch>
            <a:fillRect/>
          </a:stretch>
        </p:blipFill>
        <p:spPr>
          <a:xfrm>
            <a:off x="3724950" y="6080000"/>
            <a:ext cx="4900000" cy="2450000"/>
          </a:xfrm>
          <a:prstGeom prst="roundRect">
            <a:avLst>
              <a:gd name="adj" fmla="val 3000"/>
            </a:avLst>
          </a:prstGeom>
          <a:ln w="12700">
            <a:solidFill>
              <a:srgbClr val="4A5590"/>
            </a:solidFill>
          </a:ln>
        </p:spPr>
      </p:pic>
      <p:sp>
        <p:nvSpPr>
          <p:cNvPr id="3010" name="Text 3010"/>
          <p:cNvSpPr txBox="1"/>
          <p:nvPr/>
        </p:nvSpPr>
        <p:spPr>
          <a:xfrm>
            <a:off x="3324950" y="8580000"/>
            <a:ext cx="5700000" cy="420000"/>
          </a:xfrm>
          <a:prstGeom prst="rect">
            <a:avLst/>
          </a:prstGeom>
          <a:noFill/>
          <a:ln>
            <a:noFill/>
          </a:ln>
        </p:spPr>
        <p:txBody>
          <a:bodyPr wrap="square" lIns="0" rIns="0" tIns="0" bIns="0" anchor="t" anchorCtr="0">
            <a:noAutofit/>
          </a:bodyPr>
          <a:lstStyle/>
          <a:p>
            <a:pPr marL="0" indent="0" rtl="1" algn="ctr">
              <a:lnSpc>
                <a:spcPct val="100000"/>
              </a:lnSpc>
              <a:spcBef>
                <a:spcPts val="0"/>
              </a:spcBef>
              <a:spcAft>
                <a:spcPts val="0"/>
              </a:spcAft>
              <a:buNone/>
            </a:pPr>
            <a:r>
              <a:rPr lang="ar-SA" sz="1800" b="0">
                <a:solidFill>
                  <a:srgbClr val="F2F4FF"/>
                </a:solidFill>
                <a:latin typeface="Readex Pro"/>
                <a:ea typeface="Readex Pro"/>
                <a:cs typeface="Readex Pro"/>
                <a:sym typeface="Readex Pro"/>
              </a:rPr>
              <a:t>التحقق: آية منقولة محرّفة (EXT-033)</a:t>
            </a:r>
            <a:endParaRPr lang="ar-SA" sz="1800" b="0">
              <a:solidFill>
                <a:srgbClr val="F2F4FF"/>
              </a:solidFill>
              <a:latin typeface="Readex Pro"/>
              <a:ea typeface="Readex Pro"/>
              <a:cs typeface="Readex Pro"/>
              <a:sym typeface="Readex Pr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2EF2C2"/>
                </a:solidFill>
                <a:latin typeface="Readex Pro"/>
                <a:ea typeface="Readex Pro"/>
                <a:cs typeface="Readex Pro"/>
                <a:sym typeface="Readex Pro"/>
              </a:rPr>
              <a:t>الحل</a:t>
            </a:r>
            <a:endParaRPr lang="ar-SA" sz="1800" b="0">
              <a:solidFill>
                <a:srgbClr val="2EF2C2"/>
              </a:solidFill>
              <a:latin typeface="Readex Pro"/>
              <a:ea typeface="Readex Pro"/>
              <a:cs typeface="Readex Pro"/>
              <a:sym typeface="Readex Pro"/>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500" b="1">
                <a:solidFill>
                  <a:srgbClr val="F2F4FF"/>
                </a:solidFill>
                <a:latin typeface="Readex Pro"/>
                <a:ea typeface="Readex Pro"/>
                <a:cs typeface="Readex Pro"/>
                <a:sym typeface="Readex Pro"/>
              </a:rPr>
              <a:t>مِعيار يختبر المساعد نفسه قبل وصوله إلى المستفيد</a:t>
            </a:r>
            <a:endParaRPr lang="ar-SA" sz="4500" b="1">
              <a:solidFill>
                <a:srgbClr val="F2F4FF"/>
              </a:solidFill>
              <a:latin typeface="Readex Pro"/>
              <a:ea typeface="Readex Pro"/>
              <a:cs typeface="Readex Pro"/>
              <a:sym typeface="Readex Pro"/>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3</a:t>
            </a:fld>
            <a:endParaRPr/>
          </a:p>
        </p:txBody>
      </p:sp>
      <p:pic>
        <p:nvPicPr>
          <p:cNvPr id="864" name="Google Shape;864;p27"/>
          <p:cNvPicPr preferRelativeResize="0"/>
          <p:nvPr/>
        </p:nvPicPr>
        <p:blipFill rotWithShape="1">
          <a:blip r:embed="rId5">
            <a:alphaModFix/>
          </a:blip>
          <a:srcRect b="0" l="0" r="0" t="0"/>
          <a:stretch/>
        </p:blipFill>
        <p:spPr>
          <a:xfrm>
            <a:off x="14458950" y="4000500"/>
            <a:ext cx="1428750" cy="1428750"/>
          </a:xfrm>
          <a:prstGeom prst="rect">
            <a:avLst/>
          </a:prstGeom>
          <a:noFill/>
          <a:ln>
            <a:noFill/>
          </a:ln>
        </p:spPr>
      </p:pic>
      <p:sp>
        <p:nvSpPr>
          <p:cNvPr id="865" name="Google Shape;865;p27"/>
          <p:cNvSpPr txBox="1"/>
          <p:nvPr>
            <p:ph idx="3" type="body"/>
          </p:nvPr>
        </p:nvSpPr>
        <p:spPr>
          <a:xfrm>
            <a:off x="13411200" y="6048375"/>
            <a:ext cx="3524400" cy="7431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700" b="1">
                <a:solidFill>
                  <a:srgbClr val="F2F4FF"/>
                </a:solidFill>
                <a:latin typeface="Readex Pro"/>
                <a:ea typeface="Readex Pro"/>
                <a:cs typeface="Readex Pro"/>
                <a:sym typeface="Readex Pro"/>
              </a:rPr>
              <a:t>اختبار موسوم</a:t>
            </a:r>
            <a:endParaRPr lang="ar-SA" sz="2700" b="1">
              <a:solidFill>
                <a:srgbClr val="F2F4FF"/>
              </a:solidFill>
              <a:latin typeface="Readex Pro"/>
              <a:ea typeface="Readex Pro"/>
              <a:cs typeface="Readex Pro"/>
              <a:sym typeface="Readex Pro"/>
            </a:endParaRPr>
          </a:p>
        </p:txBody>
      </p:sp>
      <p:sp>
        <p:nvSpPr>
          <p:cNvPr id="866" name="Google Shape;866;p27"/>
          <p:cNvSpPr txBox="1"/>
          <p:nvPr>
            <p:ph idx="4" type="body"/>
          </p:nvPr>
        </p:nvSpPr>
        <p:spPr>
          <a:xfrm>
            <a:off x="13411200" y="7162800"/>
            <a:ext cx="3524400" cy="11715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400" b="0">
                <a:solidFill>
                  <a:srgbClr val="8E99CC"/>
                </a:solidFill>
                <a:latin typeface="Readex Pro"/>
                <a:ea typeface="Readex Pro"/>
                <a:cs typeface="Readex Pro"/>
                <a:sym typeface="Readex Pro"/>
              </a:rPr>
              <a:t>أسئلة بمستويات A–D</a:t>
            </a:r>
            <a:endParaRPr lang="ar-SA" sz="2400" b="0">
              <a:solidFill>
                <a:srgbClr val="8E99CC"/>
              </a:solidFill>
              <a:latin typeface="Readex Pro"/>
              <a:ea typeface="Readex Pro"/>
              <a:cs typeface="Readex Pro"/>
              <a:sym typeface="Readex Pro"/>
            </a:endParaRPr>
          </a:p>
        </p:txBody>
      </p:sp>
      <p:pic>
        <p:nvPicPr>
          <p:cNvPr id="867" name="Google Shape;867;p27"/>
          <p:cNvPicPr preferRelativeResize="0"/>
          <p:nvPr/>
        </p:nvPicPr>
        <p:blipFill rotWithShape="1">
          <a:blip r:embed="rId6">
            <a:alphaModFix/>
          </a:blip>
          <a:srcRect b="0" l="0" r="0" t="0"/>
          <a:stretch/>
        </p:blipFill>
        <p:spPr>
          <a:xfrm>
            <a:off x="6457950" y="4000500"/>
            <a:ext cx="1428750" cy="1428750"/>
          </a:xfrm>
          <a:prstGeom prst="rect">
            <a:avLst/>
          </a:prstGeom>
          <a:noFill/>
          <a:ln>
            <a:noFill/>
          </a:ln>
        </p:spPr>
      </p:pic>
      <p:sp>
        <p:nvSpPr>
          <p:cNvPr id="868" name="Google Shape;868;p27"/>
          <p:cNvSpPr txBox="1"/>
          <p:nvPr>
            <p:ph idx="5" type="body"/>
          </p:nvPr>
        </p:nvSpPr>
        <p:spPr>
          <a:xfrm>
            <a:off x="9410700" y="6048375"/>
            <a:ext cx="3524400" cy="7431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700" b="1">
                <a:solidFill>
                  <a:srgbClr val="F2F4FF"/>
                </a:solidFill>
                <a:latin typeface="Readex Pro"/>
                <a:ea typeface="Readex Pro"/>
                <a:cs typeface="Readex Pro"/>
                <a:sym typeface="Readex Pro"/>
              </a:rPr>
              <a:t>تحقق الإسناد</a:t>
            </a:r>
            <a:endParaRPr lang="ar-SA" sz="2700" b="1">
              <a:solidFill>
                <a:srgbClr val="F2F4FF"/>
              </a:solidFill>
              <a:latin typeface="Readex Pro"/>
              <a:ea typeface="Readex Pro"/>
              <a:cs typeface="Readex Pro"/>
              <a:sym typeface="Readex Pro"/>
            </a:endParaRPr>
          </a:p>
        </p:txBody>
      </p:sp>
      <p:sp>
        <p:nvSpPr>
          <p:cNvPr id="869" name="Google Shape;869;p27"/>
          <p:cNvSpPr txBox="1"/>
          <p:nvPr>
            <p:ph idx="6" type="body"/>
          </p:nvPr>
        </p:nvSpPr>
        <p:spPr>
          <a:xfrm>
            <a:off x="9410700" y="7162800"/>
            <a:ext cx="3524400" cy="11715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400" b="0">
                <a:solidFill>
                  <a:srgbClr val="8E99CC"/>
                </a:solidFill>
                <a:latin typeface="Readex Pro"/>
                <a:ea typeface="Readex Pro"/>
                <a:cs typeface="Readex Pro"/>
                <a:sym typeface="Readex Pro"/>
              </a:rPr>
              <a:t>آيات وأحاديث من مصادر محددة</a:t>
            </a:r>
            <a:endParaRPr lang="ar-SA" sz="2400" b="0">
              <a:solidFill>
                <a:srgbClr val="8E99CC"/>
              </a:solidFill>
              <a:latin typeface="Readex Pro"/>
              <a:ea typeface="Readex Pro"/>
              <a:cs typeface="Readex Pro"/>
              <a:sym typeface="Readex Pro"/>
            </a:endParaRPr>
          </a:p>
        </p:txBody>
      </p:sp>
      <p:pic>
        <p:nvPicPr>
          <p:cNvPr id="870" name="Google Shape;870;p27"/>
          <p:cNvPicPr preferRelativeResize="0"/>
          <p:nvPr/>
        </p:nvPicPr>
        <p:blipFill rotWithShape="1">
          <a:blip r:embed="rId7">
            <a:alphaModFix/>
          </a:blip>
          <a:srcRect b="0" l="0" r="0" t="0"/>
          <a:stretch/>
        </p:blipFill>
        <p:spPr>
          <a:xfrm>
            <a:off x="10458450" y="4000500"/>
            <a:ext cx="1428750" cy="1428750"/>
          </a:xfrm>
          <a:prstGeom prst="rect">
            <a:avLst/>
          </a:prstGeom>
          <a:noFill/>
          <a:ln>
            <a:noFill/>
          </a:ln>
        </p:spPr>
      </p:pic>
      <p:sp>
        <p:nvSpPr>
          <p:cNvPr id="871" name="Google Shape;871;p27"/>
          <p:cNvSpPr txBox="1"/>
          <p:nvPr>
            <p:ph idx="7" type="body"/>
          </p:nvPr>
        </p:nvSpPr>
        <p:spPr>
          <a:xfrm>
            <a:off x="5410200" y="6048375"/>
            <a:ext cx="3524400" cy="7431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700" b="1">
                <a:solidFill>
                  <a:srgbClr val="F2F4FF"/>
                </a:solidFill>
                <a:latin typeface="Readex Pro"/>
                <a:ea typeface="Readex Pro"/>
                <a:cs typeface="Readex Pro"/>
                <a:sym typeface="Readex Pro"/>
              </a:rPr>
              <a:t>حكم السلوك</a:t>
            </a:r>
            <a:endParaRPr lang="ar-SA" sz="2700" b="1">
              <a:solidFill>
                <a:srgbClr val="F2F4FF"/>
              </a:solidFill>
              <a:latin typeface="Readex Pro"/>
              <a:ea typeface="Readex Pro"/>
              <a:cs typeface="Readex Pro"/>
              <a:sym typeface="Readex Pro"/>
            </a:endParaRPr>
          </a:p>
        </p:txBody>
      </p:sp>
      <p:sp>
        <p:nvSpPr>
          <p:cNvPr id="872" name="Google Shape;872;p27"/>
          <p:cNvSpPr txBox="1"/>
          <p:nvPr>
            <p:ph idx="8" type="body"/>
          </p:nvPr>
        </p:nvSpPr>
        <p:spPr>
          <a:xfrm>
            <a:off x="5410200" y="7162800"/>
            <a:ext cx="3524400" cy="11715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400" b="0">
                <a:solidFill>
                  <a:srgbClr val="8E99CC"/>
                </a:solidFill>
                <a:latin typeface="Readex Pro"/>
                <a:ea typeface="Readex Pro"/>
                <a:cs typeface="Readex Pro"/>
                <a:sym typeface="Readex Pro"/>
              </a:rPr>
              <a:t>هل التزم بسلوك المستوى؟</a:t>
            </a:r>
            <a:endParaRPr lang="ar-SA" sz="2400" b="0">
              <a:solidFill>
                <a:srgbClr val="8E99CC"/>
              </a:solidFill>
              <a:latin typeface="Readex Pro"/>
              <a:ea typeface="Readex Pro"/>
              <a:cs typeface="Readex Pro"/>
              <a:sym typeface="Readex Pro"/>
            </a:endParaRPr>
          </a:p>
        </p:txBody>
      </p:sp>
      <p:pic>
        <p:nvPicPr>
          <p:cNvPr id="873" name="Google Shape;873;p27"/>
          <p:cNvPicPr preferRelativeResize="0"/>
          <p:nvPr/>
        </p:nvPicPr>
        <p:blipFill rotWithShape="1">
          <a:blip r:embed="rId8">
            <a:alphaModFix/>
          </a:blip>
          <a:srcRect b="0" l="0" r="0" t="0"/>
          <a:stretch/>
        </p:blipFill>
        <p:spPr>
          <a:xfrm>
            <a:off x="2457450" y="4000500"/>
            <a:ext cx="1428750" cy="1428750"/>
          </a:xfrm>
          <a:prstGeom prst="rect">
            <a:avLst/>
          </a:prstGeom>
          <a:noFill/>
          <a:ln>
            <a:noFill/>
          </a:ln>
        </p:spPr>
      </p:pic>
      <p:sp>
        <p:nvSpPr>
          <p:cNvPr id="874" name="Google Shape;874;p27"/>
          <p:cNvSpPr txBox="1"/>
          <p:nvPr>
            <p:ph idx="9" type="body"/>
          </p:nvPr>
        </p:nvSpPr>
        <p:spPr>
          <a:xfrm>
            <a:off x="1409700" y="6048375"/>
            <a:ext cx="3524400" cy="7431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700" b="1">
                <a:solidFill>
                  <a:srgbClr val="F2F4FF"/>
                </a:solidFill>
                <a:latin typeface="Readex Pro"/>
                <a:ea typeface="Readex Pro"/>
                <a:cs typeface="Readex Pro"/>
                <a:sym typeface="Readex Pro"/>
              </a:rPr>
              <a:t>بوابة جودة</a:t>
            </a:r>
            <a:endParaRPr lang="ar-SA" sz="2700" b="1">
              <a:solidFill>
                <a:srgbClr val="F2F4FF"/>
              </a:solidFill>
              <a:latin typeface="Readex Pro"/>
              <a:ea typeface="Readex Pro"/>
              <a:cs typeface="Readex Pro"/>
              <a:sym typeface="Readex Pro"/>
            </a:endParaRPr>
          </a:p>
        </p:txBody>
      </p:sp>
      <p:sp>
        <p:nvSpPr>
          <p:cNvPr id="875" name="Google Shape;875;p27"/>
          <p:cNvSpPr txBox="1"/>
          <p:nvPr>
            <p:ph idx="13" type="body"/>
          </p:nvPr>
        </p:nvSpPr>
        <p:spPr>
          <a:xfrm>
            <a:off x="1409700" y="7162800"/>
            <a:ext cx="3524400" cy="11715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400" b="0">
                <a:solidFill>
                  <a:srgbClr val="8E99CC"/>
                </a:solidFill>
                <a:latin typeface="Readex Pro"/>
                <a:ea typeface="Readex Pro"/>
                <a:cs typeface="Readex Pro"/>
                <a:sym typeface="Readex Pro"/>
              </a:rPr>
              <a:t>قرار نشر أو منع</a:t>
            </a:r>
            <a:endParaRPr lang="ar-SA" sz="2400" b="0">
              <a:solidFill>
                <a:srgbClr val="8E99CC"/>
              </a:solidFill>
              <a:latin typeface="Readex Pro"/>
              <a:ea typeface="Readex Pro"/>
              <a:cs typeface="Readex Pro"/>
              <a:sym typeface="Readex Pr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p28"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82" name="Google Shape;882;p2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83" name="Google Shape;883;p2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1800" b="0">
                <a:solidFill>
                  <a:srgbClr val="2EF2C2"/>
                </a:solidFill>
                <a:latin typeface="Readex Pro"/>
                <a:ea typeface="Readex Pro"/>
                <a:cs typeface="Readex Pro"/>
                <a:sym typeface="Readex Pro"/>
              </a:rPr>
              <a:t>التقنيات</a:t>
            </a:r>
            <a:endParaRPr lang="ar-SA" sz="1800" b="0">
              <a:solidFill>
                <a:srgbClr val="2EF2C2"/>
              </a:solidFill>
              <a:latin typeface="Readex Pro"/>
              <a:ea typeface="Readex Pro"/>
              <a:cs typeface="Readex Pro"/>
              <a:sym typeface="Readex Pro"/>
            </a:endParaRPr>
          </a:p>
        </p:txBody>
      </p:sp>
      <p:sp>
        <p:nvSpPr>
          <p:cNvPr id="884" name="Google Shape;884;p2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marL="0" indent="0" rtl="1" algn="r">
              <a:lnSpc>
                <a:spcPct val="100000"/>
              </a:lnSpc>
              <a:spcBef>
                <a:spcPts val="0"/>
              </a:spcBef>
              <a:spcAft>
                <a:spcPts val="0"/>
              </a:spcAft>
              <a:buNone/>
            </a:pPr>
            <a:r>
              <a:rPr lang="ar-SA" sz="4500" b="1">
                <a:solidFill>
                  <a:srgbClr val="F2F4FF"/>
                </a:solidFill>
                <a:latin typeface="Readex Pro"/>
                <a:ea typeface="Readex Pro"/>
                <a:cs typeface="Readex Pro"/>
                <a:sym typeface="Readex Pro"/>
              </a:rPr>
              <a:t>الذكاء الاصطناعي يُجيب ويَحكم، والمطابقة برمجية</a:t>
            </a:r>
            <a:endParaRPr lang="ar-SA" sz="4500" b="1">
              <a:solidFill>
                <a:srgbClr val="F2F4FF"/>
              </a:solidFill>
              <a:latin typeface="Readex Pro"/>
              <a:ea typeface="Readex Pro"/>
              <a:cs typeface="Readex Pro"/>
              <a:sym typeface="Readex Pro"/>
            </a:endParaRPr>
          </a:p>
        </p:txBody>
      </p:sp>
      <p:sp>
        <p:nvSpPr>
          <p:cNvPr id="886" name="Google Shape;886;p2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5</a:t>
            </a:fld>
            <a:endParaRPr/>
          </a:p>
        </p:txBody>
      </p:sp>
      <p:sp>
        <p:nvSpPr>
          <p:cNvPr id="3001" name="Card AI 3001"/>
          <p:cNvSpPr/>
          <p:nvPr/>
        </p:nvSpPr>
        <p:spPr>
          <a:xfrm>
            <a:off x="9496450" y="3500000"/>
            <a:ext cx="7543900" cy="3600000"/>
          </a:xfrm>
          <a:prstGeom prst="roundRect">
            <a:avLst>
              <a:gd name="adj" fmla="val 8059"/>
            </a:avLst>
          </a:prstGeom>
          <a:solidFill>
            <a:srgbClr val="FFFFFF">
              <a:alpha val="3920"/>
            </a:srgbClr>
          </a:solidFill>
          <a:ln w="8175">
            <a:solidFill>
              <a:srgbClr val="2EF2C2">
                <a:alpha val="12160"/>
              </a:srgbClr>
            </a:solidFill>
          </a:ln>
        </p:spPr>
        <p:txBody>
          <a:bodyPr wrap="square" lIns="300000" rIns="300000" tIns="300000" bIns="300000" anchor="ctr" anchorCtr="0">
            <a:noAutofit/>
          </a:bodyPr>
          <a:lstStyle/>
          <a:p>
            <a:pPr marL="0" indent="0" rtl="1" algn="r">
              <a:lnSpc>
                <a:spcPct val="100000"/>
              </a:lnSpc>
              <a:spcBef>
                <a:spcPts val="0"/>
              </a:spcBef>
              <a:spcAft>
                <a:spcPts val="0"/>
              </a:spcAft>
              <a:buNone/>
            </a:pPr>
            <a:r>
              <a:rPr lang="ar-SA" sz="2850" b="1">
                <a:solidFill>
                  <a:srgbClr val="2EF2C2"/>
                </a:solidFill>
                <a:latin typeface="Readex Pro"/>
                <a:ea typeface="Readex Pro"/>
                <a:cs typeface="Readex Pro"/>
                <a:sym typeface="Readex Pro"/>
              </a:rPr>
              <a:t>بذكاء اصطناعي</a:t>
            </a:r>
            <a:endParaRPr lang="ar-SA" sz="2850" b="1">
              <a:solidFill>
                <a:srgbClr val="2EF2C2"/>
              </a:solidFill>
              <a:latin typeface="Readex Pro"/>
              <a:ea typeface="Readex Pro"/>
              <a:cs typeface="Readex Pro"/>
              <a:sym typeface="Readex Pro"/>
            </a:endParaRPr>
          </a:p>
          <a:p>
            <a:pPr marL="0" indent="0" rtl="1" algn="r">
              <a:lnSpc>
                <a:spcPct val="100000"/>
              </a:lnSpc>
              <a:spcBef>
                <a:spcPts val="1400"/>
              </a:spcBef>
              <a:spcAft>
                <a:spcPts val="0"/>
              </a:spcAft>
              <a:buNone/>
            </a:pPr>
            <a:r>
              <a:rPr lang="ar-SA" sz="2400" b="0">
                <a:solidFill>
                  <a:srgbClr val="F2F4FF"/>
                </a:solidFill>
                <a:latin typeface="Readex Pro"/>
                <a:ea typeface="Readex Pro"/>
                <a:cs typeface="Readex Pro"/>
                <a:sym typeface="Readex Pro"/>
              </a:rPr>
              <a:t>المساعد المُختبَر: gemini-3.5-flash-lite</a:t>
            </a:r>
            <a:endParaRPr lang="ar-SA" sz="2400" b="0">
              <a:solidFill>
                <a:srgbClr val="F2F4FF"/>
              </a:solidFill>
              <a:latin typeface="Readex Pro"/>
              <a:ea typeface="Readex Pro"/>
              <a:cs typeface="Readex Pro"/>
              <a:sym typeface="Readex Pro"/>
            </a:endParaRPr>
          </a:p>
          <a:p>
            <a:pPr marL="0" indent="0" rtl="1" algn="r">
              <a:lnSpc>
                <a:spcPct val="100000"/>
              </a:lnSpc>
              <a:spcBef>
                <a:spcPts val="1000"/>
              </a:spcBef>
              <a:spcAft>
                <a:spcPts val="0"/>
              </a:spcAft>
              <a:buNone/>
            </a:pPr>
            <a:r>
              <a:rPr lang="ar-SA" sz="2400" b="0">
                <a:solidFill>
                  <a:srgbClr val="F2F4FF"/>
                </a:solidFill>
                <a:latin typeface="Readex Pro"/>
                <a:ea typeface="Readex Pro"/>
                <a:cs typeface="Readex Pro"/>
                <a:sym typeface="Readex Pro"/>
              </a:rPr>
              <a:t>الاستخراج والحكم: gpt-oss-120b عبر Groq</a:t>
            </a:r>
            <a:endParaRPr lang="ar-SA" sz="2400" b="0">
              <a:solidFill>
                <a:srgbClr val="F2F4FF"/>
              </a:solidFill>
              <a:latin typeface="Readex Pro"/>
              <a:ea typeface="Readex Pro"/>
              <a:cs typeface="Readex Pro"/>
              <a:sym typeface="Readex Pro"/>
            </a:endParaRPr>
          </a:p>
          <a:p>
            <a:pPr marL="0" indent="0" rtl="1" algn="r">
              <a:lnSpc>
                <a:spcPct val="100000"/>
              </a:lnSpc>
              <a:spcBef>
                <a:spcPts val="1000"/>
              </a:spcBef>
              <a:spcAft>
                <a:spcPts val="0"/>
              </a:spcAft>
              <a:buNone/>
            </a:pPr>
            <a:r>
              <a:rPr lang="ar-SA" sz="2400" b="0">
                <a:solidFill>
                  <a:srgbClr val="8E99CC"/>
                </a:solidFill>
                <a:latin typeface="Readex Pro"/>
                <a:ea typeface="Readex Pro"/>
                <a:cs typeface="Readex Pro"/>
                <a:sym typeface="Readex Pro"/>
              </a:rPr>
              <a:t>الحَكَم منفصل عن المساعد عمداً</a:t>
            </a:r>
            <a:endParaRPr lang="ar-SA" sz="2400" b="0">
              <a:solidFill>
                <a:srgbClr val="8E99CC"/>
              </a:solidFill>
              <a:latin typeface="Readex Pro"/>
              <a:ea typeface="Readex Pro"/>
              <a:cs typeface="Readex Pro"/>
              <a:sym typeface="Readex Pro"/>
            </a:endParaRPr>
          </a:p>
        </p:txBody>
      </p:sp>
      <p:sp>
        <p:nvSpPr>
          <p:cNvPr id="3002" name="Card NoAI 3002"/>
          <p:cNvSpPr/>
          <p:nvPr/>
        </p:nvSpPr>
        <p:spPr>
          <a:xfrm>
            <a:off x="1409700" y="3500000"/>
            <a:ext cx="7543900" cy="3600000"/>
          </a:xfrm>
          <a:prstGeom prst="roundRect">
            <a:avLst>
              <a:gd name="adj" fmla="val 8059"/>
            </a:avLst>
          </a:prstGeom>
          <a:solidFill>
            <a:srgbClr val="FFFFFF">
              <a:alpha val="3920"/>
            </a:srgbClr>
          </a:solidFill>
          <a:ln w="8175">
            <a:solidFill>
              <a:srgbClr val="2EF2C2">
                <a:alpha val="12160"/>
              </a:srgbClr>
            </a:solidFill>
          </a:ln>
        </p:spPr>
        <p:txBody>
          <a:bodyPr wrap="square" lIns="300000" rIns="300000" tIns="300000" bIns="300000" anchor="ctr" anchorCtr="0">
            <a:noAutofit/>
          </a:bodyPr>
          <a:lstStyle/>
          <a:p>
            <a:pPr marL="0" indent="0" rtl="1" algn="r">
              <a:lnSpc>
                <a:spcPct val="100000"/>
              </a:lnSpc>
              <a:spcBef>
                <a:spcPts val="0"/>
              </a:spcBef>
              <a:spcAft>
                <a:spcPts val="0"/>
              </a:spcAft>
              <a:buNone/>
            </a:pPr>
            <a:r>
              <a:rPr lang="ar-SA" sz="2850" b="1">
                <a:solidFill>
                  <a:srgbClr val="2EF2C2"/>
                </a:solidFill>
                <a:latin typeface="Readex Pro"/>
                <a:ea typeface="Readex Pro"/>
                <a:cs typeface="Readex Pro"/>
                <a:sym typeface="Readex Pro"/>
              </a:rPr>
              <a:t>بلا ذكاء اصطناعي</a:t>
            </a:r>
            <a:endParaRPr lang="ar-SA" sz="2850" b="1">
              <a:solidFill>
                <a:srgbClr val="2EF2C2"/>
              </a:solidFill>
              <a:latin typeface="Readex Pro"/>
              <a:ea typeface="Readex Pro"/>
              <a:cs typeface="Readex Pro"/>
              <a:sym typeface="Readex Pro"/>
            </a:endParaRPr>
          </a:p>
          <a:p>
            <a:pPr marL="0" indent="0" rtl="1" algn="r">
              <a:lnSpc>
                <a:spcPct val="100000"/>
              </a:lnSpc>
              <a:spcBef>
                <a:spcPts val="1400"/>
              </a:spcBef>
              <a:spcAft>
                <a:spcPts val="0"/>
              </a:spcAft>
              <a:buNone/>
            </a:pPr>
            <a:r>
              <a:rPr lang="ar-SA" sz="2400" b="0">
                <a:solidFill>
                  <a:srgbClr val="F2F4FF"/>
                </a:solidFill>
                <a:latin typeface="Readex Pro"/>
                <a:ea typeface="Readex Pro"/>
                <a:cs typeface="Readex Pro"/>
                <a:sym typeface="Readex Pro"/>
              </a:rPr>
              <a:t>مطابقة الآيات والأحاديث (Python)</a:t>
            </a:r>
            <a:endParaRPr lang="ar-SA" sz="2400" b="0">
              <a:solidFill>
                <a:srgbClr val="F2F4FF"/>
              </a:solidFill>
              <a:latin typeface="Readex Pro"/>
              <a:ea typeface="Readex Pro"/>
              <a:cs typeface="Readex Pro"/>
              <a:sym typeface="Readex Pro"/>
            </a:endParaRPr>
          </a:p>
          <a:p>
            <a:pPr marL="0" indent="0" rtl="1" algn="r">
              <a:lnSpc>
                <a:spcPct val="100000"/>
              </a:lnSpc>
              <a:spcBef>
                <a:spcPts val="1000"/>
              </a:spcBef>
              <a:spcAft>
                <a:spcPts val="0"/>
              </a:spcAft>
              <a:buNone/>
            </a:pPr>
            <a:r>
              <a:rPr lang="ar-SA" sz="2400" b="0">
                <a:solidFill>
                  <a:srgbClr val="F2F4FF"/>
                </a:solidFill>
                <a:latin typeface="Readex Pro"/>
                <a:ea typeface="Readex Pro"/>
                <a:cs typeface="Readex Pro"/>
                <a:sym typeface="Readex Pro"/>
              </a:rPr>
              <a:t>الدرجة وقرار البوابة</a:t>
            </a:r>
            <a:endParaRPr lang="ar-SA" sz="2400" b="0">
              <a:solidFill>
                <a:srgbClr val="F2F4FF"/>
              </a:solidFill>
              <a:latin typeface="Readex Pro"/>
              <a:ea typeface="Readex Pro"/>
              <a:cs typeface="Readex Pro"/>
              <a:sym typeface="Readex Pro"/>
            </a:endParaRPr>
          </a:p>
          <a:p>
            <a:pPr marL="0" indent="0" rtl="1" algn="r">
              <a:lnSpc>
                <a:spcPct val="100000"/>
              </a:lnSpc>
              <a:spcBef>
                <a:spcPts val="1000"/>
              </a:spcBef>
              <a:spcAft>
                <a:spcPts val="0"/>
              </a:spcAft>
              <a:buNone/>
            </a:pPr>
            <a:r>
              <a:rPr lang="ar-SA" sz="2400" b="0">
                <a:solidFill>
                  <a:srgbClr val="8E99CC"/>
                </a:solidFill>
                <a:latin typeface="Readex Pro"/>
                <a:ea typeface="Readex Pro"/>
                <a:cs typeface="Readex Pro"/>
                <a:sym typeface="Readex Pro"/>
              </a:rPr>
              <a:t>Cloudflare Workers وGitHub Actions</a:t>
            </a:r>
            <a:endParaRPr lang="ar-SA" sz="2400" b="0">
              <a:solidFill>
                <a:srgbClr val="8E99CC"/>
              </a:solidFill>
              <a:latin typeface="Readex Pro"/>
              <a:ea typeface="Readex Pro"/>
              <a:cs typeface="Readex Pro"/>
              <a:sym typeface="Readex Pro"/>
            </a:endParaRPr>
          </a:p>
        </p:txBody>
      </p:sp>
      <p:sp>
        <p:nvSpPr>
          <p:cNvPr id="3003" name="Threshold 3003"/>
          <p:cNvSpPr/>
          <p:nvPr/>
        </p:nvSpPr>
        <p:spPr>
          <a:xfrm>
            <a:off x="1409700" y="7450000"/>
            <a:ext cx="15430500" cy="1000000"/>
          </a:xfrm>
          <a:prstGeom prst="roundRect">
            <a:avLst>
              <a:gd name="adj" fmla="val 8059"/>
            </a:avLst>
          </a:prstGeom>
          <a:solidFill>
            <a:srgbClr val="6150EA">
              <a:alpha val="22000"/>
            </a:srgbClr>
          </a:solidFill>
          <a:ln w="8175">
            <a:solidFill>
              <a:srgbClr val="6150EA"/>
            </a:solidFill>
          </a:ln>
        </p:spPr>
        <p:txBody>
          <a:bodyPr wrap="square" lIns="200000" rIns="200000" tIns="200000" bIns="200000" anchor="ctr" anchorCtr="0">
            <a:noAutofit/>
          </a:bodyPr>
          <a:lstStyle/>
          <a:p>
            <a:pPr marL="0" indent="0" rtl="1" algn="r">
              <a:lnSpc>
                <a:spcPct val="100000"/>
              </a:lnSpc>
              <a:spcBef>
                <a:spcPts val="0"/>
              </a:spcBef>
              <a:spcAft>
                <a:spcPts val="0"/>
              </a:spcAft>
              <a:buNone/>
            </a:pPr>
            <a:r>
              <a:rPr lang="ar-SA" sz="2400" b="1">
                <a:solidFill>
                  <a:srgbClr val="F2F4FF"/>
                </a:solidFill>
                <a:latin typeface="Readex Pro"/>
                <a:ea typeface="Readex Pro"/>
                <a:cs typeface="Readex Pro"/>
                <a:sym typeface="Readex Pro"/>
              </a:rPr>
              <a:t>ثقة الحَكَم دون 0.75: إحالة إلى مراجعة بشرية</a:t>
            </a:r>
            <a:endParaRPr lang="ar-SA" sz="2400" b="1">
              <a:solidFill>
                <a:srgbClr val="F2F4FF"/>
              </a:solidFill>
              <a:latin typeface="Readex Pro"/>
              <a:ea typeface="Readex Pro"/>
              <a:cs typeface="Readex Pro"/>
              <a:sym typeface="Readex Pr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2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13</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3001" name="Text 3001"/>
          <p:cNvSpPr txBox="1"/>
          <p:nvPr/>
        </p:nvSpPr>
        <p:spPr>
          <a:xfrm>
            <a:off x="10363200" y="1028700"/>
            <a:ext cx="6477000" cy="419100"/>
          </a:xfrm>
          <a:prstGeom prst="rect">
            <a:avLst/>
          </a:prstGeom>
          <a:noFill/>
          <a:ln>
            <a:noFill/>
          </a:ln>
        </p:spPr>
        <p:txBody>
          <a:bodyPr wrap="square" lIns="0" rIns="0" tIns="0" bIns="0" anchor="t" anchorCtr="0">
            <a:noAutofit/>
          </a:bodyPr>
          <a:lstStyle/>
          <a:p>
            <a:pPr marL="0" indent="0" rtl="1" algn="r">
              <a:lnSpc>
                <a:spcPct val="100000"/>
              </a:lnSpc>
              <a:spcBef>
                <a:spcPts val="0"/>
              </a:spcBef>
              <a:spcAft>
                <a:spcPts val="0"/>
              </a:spcAft>
              <a:buNone/>
            </a:pPr>
            <a:r>
              <a:rPr lang="ar-SA" sz="1800" b="0">
                <a:solidFill>
                  <a:srgbClr val="2EF2C2"/>
                </a:solidFill>
                <a:latin typeface="Readex Pro"/>
                <a:ea typeface="Readex Pro"/>
                <a:cs typeface="Readex Pro"/>
                <a:sym typeface="Readex Pro"/>
              </a:rPr>
              <a:t>الحدود</a:t>
            </a:r>
            <a:endParaRPr lang="ar-SA" sz="1800" b="0">
              <a:solidFill>
                <a:srgbClr val="2EF2C2"/>
              </a:solidFill>
              <a:latin typeface="Readex Pro"/>
              <a:ea typeface="Readex Pro"/>
              <a:cs typeface="Readex Pro"/>
              <a:sym typeface="Readex Pro"/>
            </a:endParaRPr>
          </a:p>
        </p:txBody>
      </p:sp>
      <p:sp>
        <p:nvSpPr>
          <p:cNvPr id="3002" name="Text 3002"/>
          <p:cNvSpPr txBox="1"/>
          <p:nvPr/>
        </p:nvSpPr>
        <p:spPr>
          <a:xfrm>
            <a:off x="1409700" y="1809750"/>
            <a:ext cx="15430500" cy="952500"/>
          </a:xfrm>
          <a:prstGeom prst="rect">
            <a:avLst/>
          </a:prstGeom>
          <a:noFill/>
          <a:ln>
            <a:noFill/>
          </a:ln>
        </p:spPr>
        <p:txBody>
          <a:bodyPr wrap="square" lIns="0" rIns="0" tIns="0" bIns="0" anchor="t" anchorCtr="0">
            <a:noAutofit/>
          </a:bodyPr>
          <a:lstStyle/>
          <a:p>
            <a:pPr marL="0" indent="0" rtl="1" algn="r">
              <a:lnSpc>
                <a:spcPct val="100000"/>
              </a:lnSpc>
              <a:spcBef>
                <a:spcPts val="0"/>
              </a:spcBef>
              <a:spcAft>
                <a:spcPts val="0"/>
              </a:spcAft>
              <a:buNone/>
            </a:pPr>
            <a:r>
              <a:rPr lang="ar-SA" sz="4500" b="1">
                <a:solidFill>
                  <a:srgbClr val="F2F4FF"/>
                </a:solidFill>
                <a:latin typeface="Readex Pro"/>
                <a:ea typeface="Readex Pro"/>
                <a:cs typeface="Readex Pro"/>
                <a:sym typeface="Readex Pro"/>
              </a:rPr>
              <a:t>حدود مُعلَنة تُقرأ معها كل النتائج</a:t>
            </a:r>
            <a:endParaRPr lang="ar-SA" sz="4500" b="1">
              <a:solidFill>
                <a:srgbClr val="F2F4FF"/>
              </a:solidFill>
              <a:latin typeface="Readex Pro"/>
              <a:ea typeface="Readex Pro"/>
              <a:cs typeface="Readex Pro"/>
              <a:sym typeface="Readex Pro"/>
            </a:endParaRPr>
          </a:p>
        </p:txBody>
      </p:sp>
      <p:sp>
        <p:nvSpPr>
          <p:cNvPr id="3003" name="Limit 3003"/>
          <p:cNvSpPr/>
          <p:nvPr/>
        </p:nvSpPr>
        <p:spPr>
          <a:xfrm>
            <a:off x="13940200" y="3600000"/>
            <a:ext cx="2900000" cy="3400000"/>
          </a:xfrm>
          <a:prstGeom prst="roundRect">
            <a:avLst>
              <a:gd name="adj" fmla="val 8059"/>
            </a:avLst>
          </a:prstGeom>
          <a:solidFill>
            <a:srgbClr val="FFFFFF">
              <a:alpha val="3920"/>
            </a:srgbClr>
          </a:solidFill>
          <a:ln w="8175">
            <a:solidFill>
              <a:srgbClr val="2EF2C2">
                <a:alpha val="12160"/>
              </a:srgbClr>
            </a:solidFill>
          </a:ln>
        </p:spPr>
        <p:txBody>
          <a:bodyPr wrap="square" lIns="250000" rIns="250000" tIns="250000" bIns="250000" anchor="t" anchorCtr="0">
            <a:noAutofit/>
          </a:bodyPr>
          <a:lstStyle/>
          <a:p>
            <a:pPr marL="0" indent="0" rtl="1" algn="ctr">
              <a:lnSpc>
                <a:spcPct val="100000"/>
              </a:lnSpc>
              <a:spcBef>
                <a:spcPts val="0"/>
              </a:spcBef>
              <a:spcAft>
                <a:spcPts val="0"/>
              </a:spcAft>
              <a:buNone/>
            </a:pPr>
            <a:r>
              <a:rPr lang="ar-SA" sz="3600" b="1">
                <a:solidFill>
                  <a:srgbClr val="2EF2C2"/>
                </a:solidFill>
                <a:latin typeface="Readex Pro"/>
                <a:ea typeface="Readex Pro"/>
                <a:cs typeface="Readex Pro"/>
                <a:sym typeface="Readex Pro"/>
              </a:rPr>
              <a:t>01</a:t>
            </a:r>
            <a:endParaRPr lang="ar-SA" sz="3600" b="1">
              <a:solidFill>
                <a:srgbClr val="2EF2C2"/>
              </a:solidFill>
              <a:latin typeface="Readex Pro"/>
              <a:ea typeface="Readex Pro"/>
              <a:cs typeface="Readex Pro"/>
              <a:sym typeface="Readex Pro"/>
            </a:endParaRPr>
          </a:p>
          <a:p>
            <a:pPr marL="0" indent="0" rtl="1" algn="ctr">
              <a:lnSpc>
                <a:spcPct val="100000"/>
              </a:lnSpc>
              <a:spcBef>
                <a:spcPts val="1600"/>
              </a:spcBef>
              <a:spcAft>
                <a:spcPts val="0"/>
              </a:spcAft>
              <a:buNone/>
            </a:pPr>
            <a:r>
              <a:rPr lang="ar-SA" sz="2500" b="1">
                <a:solidFill>
                  <a:srgbClr val="F2F4FF"/>
                </a:solidFill>
                <a:latin typeface="Readex Pro"/>
                <a:ea typeface="Readex Pro"/>
                <a:cs typeface="Readex Pro"/>
                <a:sym typeface="Readex Pro"/>
              </a:rPr>
              <a:t>12 حالة فقط</a:t>
            </a:r>
            <a:endParaRPr lang="ar-SA" sz="2500" b="1">
              <a:solidFill>
                <a:srgbClr val="F2F4FF"/>
              </a:solidFill>
              <a:latin typeface="Readex Pro"/>
              <a:ea typeface="Readex Pro"/>
              <a:cs typeface="Readex Pro"/>
              <a:sym typeface="Readex Pro"/>
            </a:endParaRPr>
          </a:p>
          <a:p>
            <a:pPr marL="0" indent="0" rtl="1" algn="ctr">
              <a:lnSpc>
                <a:spcPct val="110000"/>
              </a:lnSpc>
              <a:spcBef>
                <a:spcPts val="1000"/>
              </a:spcBef>
              <a:spcAft>
                <a:spcPts val="0"/>
              </a:spcAft>
              <a:buNone/>
            </a:pPr>
            <a:r>
              <a:rPr lang="ar-SA" sz="2000" b="0">
                <a:solidFill>
                  <a:srgbClr val="8E99CC"/>
                </a:solidFill>
                <a:latin typeface="Readex Pro"/>
                <a:ea typeface="Readex Pro"/>
                <a:cs typeface="Readex Pro"/>
                <a:sym typeface="Readex Pro"/>
              </a:rPr>
              <a:t>لا تُعمَّم الأرقام</a:t>
            </a:r>
            <a:endParaRPr lang="ar-SA" sz="2000" b="0">
              <a:solidFill>
                <a:srgbClr val="8E99CC"/>
              </a:solidFill>
              <a:latin typeface="Readex Pro"/>
              <a:ea typeface="Readex Pro"/>
              <a:cs typeface="Readex Pro"/>
              <a:sym typeface="Readex Pro"/>
            </a:endParaRPr>
          </a:p>
        </p:txBody>
      </p:sp>
      <p:sp>
        <p:nvSpPr>
          <p:cNvPr id="3004" name="Limit 3004"/>
          <p:cNvSpPr/>
          <p:nvPr/>
        </p:nvSpPr>
        <p:spPr>
          <a:xfrm>
            <a:off x="10807575" y="3600000"/>
            <a:ext cx="2900000" cy="3400000"/>
          </a:xfrm>
          <a:prstGeom prst="roundRect">
            <a:avLst>
              <a:gd name="adj" fmla="val 8059"/>
            </a:avLst>
          </a:prstGeom>
          <a:solidFill>
            <a:srgbClr val="FFFFFF">
              <a:alpha val="3920"/>
            </a:srgbClr>
          </a:solidFill>
          <a:ln w="8175">
            <a:solidFill>
              <a:srgbClr val="2EF2C2">
                <a:alpha val="12160"/>
              </a:srgbClr>
            </a:solidFill>
          </a:ln>
        </p:spPr>
        <p:txBody>
          <a:bodyPr wrap="square" lIns="250000" rIns="250000" tIns="250000" bIns="250000" anchor="t" anchorCtr="0">
            <a:noAutofit/>
          </a:bodyPr>
          <a:lstStyle/>
          <a:p>
            <a:pPr marL="0" indent="0" rtl="1" algn="ctr">
              <a:lnSpc>
                <a:spcPct val="100000"/>
              </a:lnSpc>
              <a:spcBef>
                <a:spcPts val="0"/>
              </a:spcBef>
              <a:spcAft>
                <a:spcPts val="0"/>
              </a:spcAft>
              <a:buNone/>
            </a:pPr>
            <a:r>
              <a:rPr lang="ar-SA" sz="3600" b="1">
                <a:solidFill>
                  <a:srgbClr val="2EF2C2"/>
                </a:solidFill>
                <a:latin typeface="Readex Pro"/>
                <a:ea typeface="Readex Pro"/>
                <a:cs typeface="Readex Pro"/>
                <a:sym typeface="Readex Pro"/>
              </a:rPr>
              <a:t>02</a:t>
            </a:r>
            <a:endParaRPr lang="ar-SA" sz="3600" b="1">
              <a:solidFill>
                <a:srgbClr val="2EF2C2"/>
              </a:solidFill>
              <a:latin typeface="Readex Pro"/>
              <a:ea typeface="Readex Pro"/>
              <a:cs typeface="Readex Pro"/>
              <a:sym typeface="Readex Pro"/>
            </a:endParaRPr>
          </a:p>
          <a:p>
            <a:pPr marL="0" indent="0" rtl="1" algn="ctr">
              <a:lnSpc>
                <a:spcPct val="100000"/>
              </a:lnSpc>
              <a:spcBef>
                <a:spcPts val="1600"/>
              </a:spcBef>
              <a:spcAft>
                <a:spcPts val="0"/>
              </a:spcAft>
              <a:buNone/>
            </a:pPr>
            <a:r>
              <a:rPr lang="ar-SA" sz="2500" b="1">
                <a:solidFill>
                  <a:srgbClr val="F2F4FF"/>
                </a:solidFill>
                <a:latin typeface="Readex Pro"/>
                <a:ea typeface="Readex Pro"/>
                <a:cs typeface="Readex Pro"/>
                <a:sym typeface="Readex Pro"/>
              </a:rPr>
              <a:t>جولة rag واحدة</a:t>
            </a:r>
            <a:endParaRPr lang="ar-SA" sz="2500" b="1">
              <a:solidFill>
                <a:srgbClr val="F2F4FF"/>
              </a:solidFill>
              <a:latin typeface="Readex Pro"/>
              <a:ea typeface="Readex Pro"/>
              <a:cs typeface="Readex Pro"/>
              <a:sym typeface="Readex Pro"/>
            </a:endParaRPr>
          </a:p>
          <a:p>
            <a:pPr marL="0" indent="0" rtl="1" algn="ctr">
              <a:lnSpc>
                <a:spcPct val="110000"/>
              </a:lnSpc>
              <a:spcBef>
                <a:spcPts val="1000"/>
              </a:spcBef>
              <a:spcAft>
                <a:spcPts val="0"/>
              </a:spcAft>
              <a:buNone/>
            </a:pPr>
            <a:r>
              <a:rPr lang="ar-SA" sz="2000" b="0">
                <a:solidFill>
                  <a:srgbClr val="8E99CC"/>
                </a:solidFill>
                <a:latin typeface="Readex Pro"/>
                <a:ea typeface="Readex Pro"/>
                <a:cs typeface="Readex Pro"/>
                <a:sym typeface="Readex Pro"/>
              </a:rPr>
              <a:t>بسبب حد Groq اليومي</a:t>
            </a:r>
            <a:endParaRPr lang="ar-SA" sz="2000" b="0">
              <a:solidFill>
                <a:srgbClr val="8E99CC"/>
              </a:solidFill>
              <a:latin typeface="Readex Pro"/>
              <a:ea typeface="Readex Pro"/>
              <a:cs typeface="Readex Pro"/>
              <a:sym typeface="Readex Pro"/>
            </a:endParaRPr>
          </a:p>
        </p:txBody>
      </p:sp>
      <p:sp>
        <p:nvSpPr>
          <p:cNvPr id="3005" name="Limit 3005"/>
          <p:cNvSpPr/>
          <p:nvPr/>
        </p:nvSpPr>
        <p:spPr>
          <a:xfrm>
            <a:off x="7674950" y="3600000"/>
            <a:ext cx="2900000" cy="3400000"/>
          </a:xfrm>
          <a:prstGeom prst="roundRect">
            <a:avLst>
              <a:gd name="adj" fmla="val 8059"/>
            </a:avLst>
          </a:prstGeom>
          <a:solidFill>
            <a:srgbClr val="FFFFFF">
              <a:alpha val="3920"/>
            </a:srgbClr>
          </a:solidFill>
          <a:ln w="8175">
            <a:solidFill>
              <a:srgbClr val="2EF2C2">
                <a:alpha val="12160"/>
              </a:srgbClr>
            </a:solidFill>
          </a:ln>
        </p:spPr>
        <p:txBody>
          <a:bodyPr wrap="square" lIns="250000" rIns="250000" tIns="250000" bIns="250000" anchor="t" anchorCtr="0">
            <a:noAutofit/>
          </a:bodyPr>
          <a:lstStyle/>
          <a:p>
            <a:pPr marL="0" indent="0" rtl="1" algn="ctr">
              <a:lnSpc>
                <a:spcPct val="100000"/>
              </a:lnSpc>
              <a:spcBef>
                <a:spcPts val="0"/>
              </a:spcBef>
              <a:spcAft>
                <a:spcPts val="0"/>
              </a:spcAft>
              <a:buNone/>
            </a:pPr>
            <a:r>
              <a:rPr lang="ar-SA" sz="3600" b="1">
                <a:solidFill>
                  <a:srgbClr val="2EF2C2"/>
                </a:solidFill>
                <a:latin typeface="Readex Pro"/>
                <a:ea typeface="Readex Pro"/>
                <a:cs typeface="Readex Pro"/>
                <a:sym typeface="Readex Pro"/>
              </a:rPr>
              <a:t>03</a:t>
            </a:r>
            <a:endParaRPr lang="ar-SA" sz="3600" b="1">
              <a:solidFill>
                <a:srgbClr val="2EF2C2"/>
              </a:solidFill>
              <a:latin typeface="Readex Pro"/>
              <a:ea typeface="Readex Pro"/>
              <a:cs typeface="Readex Pro"/>
              <a:sym typeface="Readex Pro"/>
            </a:endParaRPr>
          </a:p>
          <a:p>
            <a:pPr marL="0" indent="0" rtl="1" algn="ctr">
              <a:lnSpc>
                <a:spcPct val="100000"/>
              </a:lnSpc>
              <a:spcBef>
                <a:spcPts val="1600"/>
              </a:spcBef>
              <a:spcAft>
                <a:spcPts val="0"/>
              </a:spcAft>
              <a:buNone/>
            </a:pPr>
            <a:r>
              <a:rPr lang="ar-SA" sz="2500" b="1">
                <a:solidFill>
                  <a:srgbClr val="F2F4FF"/>
                </a:solidFill>
                <a:latin typeface="Readex Pro"/>
                <a:ea typeface="Readex Pro"/>
                <a:cs typeface="Readex Pro"/>
                <a:sym typeface="Readex Pro"/>
              </a:rPr>
              <a:t>8 مدخلات حديث</a:t>
            </a:r>
            <a:endParaRPr lang="ar-SA" sz="2500" b="1">
              <a:solidFill>
                <a:srgbClr val="F2F4FF"/>
              </a:solidFill>
              <a:latin typeface="Readex Pro"/>
              <a:ea typeface="Readex Pro"/>
              <a:cs typeface="Readex Pro"/>
              <a:sym typeface="Readex Pro"/>
            </a:endParaRPr>
          </a:p>
          <a:p>
            <a:pPr marL="0" indent="0" rtl="1" algn="ctr">
              <a:lnSpc>
                <a:spcPct val="110000"/>
              </a:lnSpc>
              <a:spcBef>
                <a:spcPts val="1000"/>
              </a:spcBef>
              <a:spcAft>
                <a:spcPts val="0"/>
              </a:spcAft>
              <a:buNone/>
            </a:pPr>
            <a:r>
              <a:rPr lang="ar-SA" sz="2000" b="0">
                <a:solidFill>
                  <a:srgbClr val="8E99CC"/>
                </a:solidFill>
                <a:latin typeface="Readex Pro"/>
                <a:ea typeface="Readex Pro"/>
                <a:cs typeface="Readex Pro"/>
                <a:sym typeface="Readex Pro"/>
              </a:rPr>
              <a:t>غيرها «يحتاج تحقق»</a:t>
            </a:r>
            <a:endParaRPr lang="ar-SA" sz="2000" b="0">
              <a:solidFill>
                <a:srgbClr val="8E99CC"/>
              </a:solidFill>
              <a:latin typeface="Readex Pro"/>
              <a:ea typeface="Readex Pro"/>
              <a:cs typeface="Readex Pro"/>
              <a:sym typeface="Readex Pro"/>
            </a:endParaRPr>
          </a:p>
        </p:txBody>
      </p:sp>
      <p:sp>
        <p:nvSpPr>
          <p:cNvPr id="3006" name="Limit 3006"/>
          <p:cNvSpPr/>
          <p:nvPr/>
        </p:nvSpPr>
        <p:spPr>
          <a:xfrm>
            <a:off x="4542325" y="3600000"/>
            <a:ext cx="2900000" cy="3400000"/>
          </a:xfrm>
          <a:prstGeom prst="roundRect">
            <a:avLst>
              <a:gd name="adj" fmla="val 8059"/>
            </a:avLst>
          </a:prstGeom>
          <a:solidFill>
            <a:srgbClr val="FFFFFF">
              <a:alpha val="3920"/>
            </a:srgbClr>
          </a:solidFill>
          <a:ln w="8175">
            <a:solidFill>
              <a:srgbClr val="2EF2C2">
                <a:alpha val="12160"/>
              </a:srgbClr>
            </a:solidFill>
          </a:ln>
        </p:spPr>
        <p:txBody>
          <a:bodyPr wrap="square" lIns="250000" rIns="250000" tIns="250000" bIns="250000" anchor="t" anchorCtr="0">
            <a:noAutofit/>
          </a:bodyPr>
          <a:lstStyle/>
          <a:p>
            <a:pPr marL="0" indent="0" rtl="1" algn="ctr">
              <a:lnSpc>
                <a:spcPct val="100000"/>
              </a:lnSpc>
              <a:spcBef>
                <a:spcPts val="0"/>
              </a:spcBef>
              <a:spcAft>
                <a:spcPts val="0"/>
              </a:spcAft>
              <a:buNone/>
            </a:pPr>
            <a:r>
              <a:rPr lang="ar-SA" sz="3600" b="1">
                <a:solidFill>
                  <a:srgbClr val="2EF2C2"/>
                </a:solidFill>
                <a:latin typeface="Readex Pro"/>
                <a:ea typeface="Readex Pro"/>
                <a:cs typeface="Readex Pro"/>
                <a:sym typeface="Readex Pro"/>
              </a:rPr>
              <a:t>04</a:t>
            </a:r>
            <a:endParaRPr lang="ar-SA" sz="3600" b="1">
              <a:solidFill>
                <a:srgbClr val="2EF2C2"/>
              </a:solidFill>
              <a:latin typeface="Readex Pro"/>
              <a:ea typeface="Readex Pro"/>
              <a:cs typeface="Readex Pro"/>
              <a:sym typeface="Readex Pro"/>
            </a:endParaRPr>
          </a:p>
          <a:p>
            <a:pPr marL="0" indent="0" rtl="1" algn="ctr">
              <a:lnSpc>
                <a:spcPct val="100000"/>
              </a:lnSpc>
              <a:spcBef>
                <a:spcPts val="1600"/>
              </a:spcBef>
              <a:spcAft>
                <a:spcPts val="0"/>
              </a:spcAft>
              <a:buNone/>
            </a:pPr>
            <a:r>
              <a:rPr lang="ar-SA" sz="2500" b="1">
                <a:solidFill>
                  <a:srgbClr val="F2F4FF"/>
                </a:solidFill>
                <a:latin typeface="Readex Pro"/>
                <a:ea typeface="Readex Pro"/>
                <a:cs typeface="Readex Pro"/>
                <a:sym typeface="Readex Pro"/>
              </a:rPr>
              <a:t>لا مراجعة مستقلة</a:t>
            </a:r>
            <a:endParaRPr lang="ar-SA" sz="2500" b="1">
              <a:solidFill>
                <a:srgbClr val="F2F4FF"/>
              </a:solidFill>
              <a:latin typeface="Readex Pro"/>
              <a:ea typeface="Readex Pro"/>
              <a:cs typeface="Readex Pro"/>
              <a:sym typeface="Readex Pro"/>
            </a:endParaRPr>
          </a:p>
          <a:p>
            <a:pPr marL="0" indent="0" rtl="1" algn="ctr">
              <a:lnSpc>
                <a:spcPct val="110000"/>
              </a:lnSpc>
              <a:spcBef>
                <a:spcPts val="1000"/>
              </a:spcBef>
              <a:spcAft>
                <a:spcPts val="0"/>
              </a:spcAft>
              <a:buNone/>
            </a:pPr>
            <a:r>
              <a:rPr lang="ar-SA" sz="2000" b="0">
                <a:solidFill>
                  <a:srgbClr val="8E99CC"/>
                </a:solidFill>
                <a:latin typeface="Readex Pro"/>
                <a:ea typeface="Readex Pro"/>
                <a:cs typeface="Readex Pro"/>
                <a:sym typeface="Readex Pro"/>
              </a:rPr>
              <a:t>الحكم الآلي مساعد لا بديل</a:t>
            </a:r>
            <a:endParaRPr lang="ar-SA" sz="2000" b="0">
              <a:solidFill>
                <a:srgbClr val="8E99CC"/>
              </a:solidFill>
              <a:latin typeface="Readex Pro"/>
              <a:ea typeface="Readex Pro"/>
              <a:cs typeface="Readex Pro"/>
              <a:sym typeface="Readex Pro"/>
            </a:endParaRPr>
          </a:p>
        </p:txBody>
      </p:sp>
      <p:sp>
        <p:nvSpPr>
          <p:cNvPr id="3007" name="Limit 3007"/>
          <p:cNvSpPr/>
          <p:nvPr/>
        </p:nvSpPr>
        <p:spPr>
          <a:xfrm>
            <a:off x="1409700" y="3600000"/>
            <a:ext cx="2900000" cy="3400000"/>
          </a:xfrm>
          <a:prstGeom prst="roundRect">
            <a:avLst>
              <a:gd name="adj" fmla="val 8059"/>
            </a:avLst>
          </a:prstGeom>
          <a:solidFill>
            <a:srgbClr val="FFFFFF">
              <a:alpha val="3920"/>
            </a:srgbClr>
          </a:solidFill>
          <a:ln w="8175">
            <a:solidFill>
              <a:srgbClr val="2EF2C2">
                <a:alpha val="12160"/>
              </a:srgbClr>
            </a:solidFill>
          </a:ln>
        </p:spPr>
        <p:txBody>
          <a:bodyPr wrap="square" lIns="250000" rIns="250000" tIns="250000" bIns="250000" anchor="t" anchorCtr="0">
            <a:noAutofit/>
          </a:bodyPr>
          <a:lstStyle/>
          <a:p>
            <a:pPr marL="0" indent="0" rtl="1" algn="ctr">
              <a:lnSpc>
                <a:spcPct val="100000"/>
              </a:lnSpc>
              <a:spcBef>
                <a:spcPts val="0"/>
              </a:spcBef>
              <a:spcAft>
                <a:spcPts val="0"/>
              </a:spcAft>
              <a:buNone/>
            </a:pPr>
            <a:r>
              <a:rPr lang="ar-SA" sz="3600" b="1">
                <a:solidFill>
                  <a:srgbClr val="2EF2C2"/>
                </a:solidFill>
                <a:latin typeface="Readex Pro"/>
                <a:ea typeface="Readex Pro"/>
                <a:cs typeface="Readex Pro"/>
                <a:sym typeface="Readex Pro"/>
              </a:rPr>
              <a:t>05</a:t>
            </a:r>
            <a:endParaRPr lang="ar-SA" sz="3600" b="1">
              <a:solidFill>
                <a:srgbClr val="2EF2C2"/>
              </a:solidFill>
              <a:latin typeface="Readex Pro"/>
              <a:ea typeface="Readex Pro"/>
              <a:cs typeface="Readex Pro"/>
              <a:sym typeface="Readex Pro"/>
            </a:endParaRPr>
          </a:p>
          <a:p>
            <a:pPr marL="0" indent="0" rtl="1" algn="ctr">
              <a:lnSpc>
                <a:spcPct val="100000"/>
              </a:lnSpc>
              <a:spcBef>
                <a:spcPts val="1600"/>
              </a:spcBef>
              <a:spcAft>
                <a:spcPts val="0"/>
              </a:spcAft>
              <a:buNone/>
            </a:pPr>
            <a:r>
              <a:rPr lang="ar-SA" sz="2500" b="1">
                <a:solidFill>
                  <a:srgbClr val="F2F4FF"/>
                </a:solidFill>
                <a:latin typeface="Readex Pro"/>
                <a:ea typeface="Readex Pro"/>
                <a:cs typeface="Readex Pro"/>
                <a:sym typeface="Readex Pro"/>
              </a:rPr>
              <a:t>فرق الرسم</a:t>
            </a:r>
            <a:endParaRPr lang="ar-SA" sz="2500" b="1">
              <a:solidFill>
                <a:srgbClr val="F2F4FF"/>
              </a:solidFill>
              <a:latin typeface="Readex Pro"/>
              <a:ea typeface="Readex Pro"/>
              <a:cs typeface="Readex Pro"/>
              <a:sym typeface="Readex Pro"/>
            </a:endParaRPr>
          </a:p>
          <a:p>
            <a:pPr marL="0" indent="0" rtl="1" algn="ctr">
              <a:lnSpc>
                <a:spcPct val="110000"/>
              </a:lnSpc>
              <a:spcBef>
                <a:spcPts val="1000"/>
              </a:spcBef>
              <a:spcAft>
                <a:spcPts val="0"/>
              </a:spcAft>
              <a:buNone/>
            </a:pPr>
            <a:r>
              <a:rPr lang="ar-SA" sz="2000" b="0">
                <a:solidFill>
                  <a:srgbClr val="8E99CC"/>
                </a:solidFill>
                <a:latin typeface="Readex Pro"/>
                <a:ea typeface="Readex Pro"/>
                <a:cs typeface="Readex Pro"/>
                <a:sym typeface="Readex Pro"/>
              </a:rPr>
              <a:t>«مرضاة»/«مرضات» قد يُحكم «خاطئ»</a:t>
            </a:r>
            <a:endParaRPr lang="ar-SA" sz="2000" b="0">
              <a:solidFill>
                <a:srgbClr val="8E99CC"/>
              </a:solidFill>
              <a:latin typeface="Readex Pro"/>
              <a:ea typeface="Readex Pro"/>
              <a:cs typeface="Readex Pro"/>
              <a:sym typeface="Readex Pro"/>
            </a:endParaRPr>
          </a:p>
        </p:txBody>
      </p:sp>
      <p:sp>
        <p:nvSpPr>
          <p:cNvPr id="3008" name="Text 3008"/>
          <p:cNvSpPr txBox="1"/>
          <p:nvPr/>
        </p:nvSpPr>
        <p:spPr>
          <a:xfrm>
            <a:off x="1409700" y="7800000"/>
            <a:ext cx="15430500" cy="500000"/>
          </a:xfrm>
          <a:prstGeom prst="rect">
            <a:avLst/>
          </a:prstGeom>
          <a:noFill/>
          <a:ln>
            <a:noFill/>
          </a:ln>
        </p:spPr>
        <p:txBody>
          <a:bodyPr wrap="square" lIns="0" rIns="0" tIns="0" bIns="0" anchor="t" anchorCtr="0">
            <a:noAutofit/>
          </a:bodyPr>
          <a:lstStyle/>
          <a:p>
            <a:pPr marL="0" indent="0" rtl="1" algn="r">
              <a:lnSpc>
                <a:spcPct val="100000"/>
              </a:lnSpc>
              <a:spcBef>
                <a:spcPts val="0"/>
              </a:spcBef>
              <a:spcAft>
                <a:spcPts val="0"/>
              </a:spcAft>
              <a:buNone/>
            </a:pPr>
            <a:r>
              <a:rPr lang="ar-SA" sz="1800" b="0">
                <a:solidFill>
                  <a:srgbClr val="8E99CC"/>
                </a:solidFill>
                <a:latin typeface="Readex Pro"/>
                <a:ea typeface="Readex Pro"/>
                <a:cs typeface="Readex Pro"/>
                <a:sym typeface="Readex Pro"/>
              </a:rPr>
              <a:t>المصدر: README.md، قسم «الحدود المعروفة»</a:t>
            </a:r>
            <a:endParaRPr lang="ar-SA" sz="1800" b="0">
              <a:solidFill>
                <a:srgbClr val="8E99CC"/>
              </a:solidFill>
              <a:latin typeface="Readex Pro"/>
              <a:ea typeface="Readex Pro"/>
              <a:cs typeface="Readex Pro"/>
              <a:sym typeface="Readex Pr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14</a:t>
            </a:fld>
            <a:endParaRPr/>
          </a:p>
        </p:txBody>
      </p:sp>
      <p:sp>
        <p:nvSpPr>
          <p:cNvPr id="3001" name="Text 3001"/>
          <p:cNvSpPr txBox="1"/>
          <p:nvPr/>
        </p:nvSpPr>
        <p:spPr>
          <a:xfrm>
            <a:off x="10363200" y="1028700"/>
            <a:ext cx="6477000" cy="419100"/>
          </a:xfrm>
          <a:prstGeom prst="rect">
            <a:avLst/>
          </a:prstGeom>
          <a:noFill/>
          <a:ln>
            <a:noFill/>
          </a:ln>
        </p:spPr>
        <p:txBody>
          <a:bodyPr wrap="square" lIns="0" rIns="0" tIns="0" bIns="0" anchor="t" anchorCtr="0">
            <a:noAutofit/>
          </a:bodyPr>
          <a:lstStyle/>
          <a:p>
            <a:pPr marL="0" indent="0" rtl="1" algn="r">
              <a:lnSpc>
                <a:spcPct val="100000"/>
              </a:lnSpc>
              <a:spcBef>
                <a:spcPts val="0"/>
              </a:spcBef>
              <a:spcAft>
                <a:spcPts val="0"/>
              </a:spcAft>
              <a:buNone/>
            </a:pPr>
            <a:r>
              <a:rPr lang="ar-SA" sz="1800" b="0">
                <a:solidFill>
                  <a:srgbClr val="6150EA"/>
                </a:solidFill>
                <a:latin typeface="Readex Pro"/>
                <a:ea typeface="Readex Pro"/>
                <a:cs typeface="Readex Pro"/>
                <a:sym typeface="Readex Pro"/>
              </a:rPr>
              <a:t>التشغيل والكلفة</a:t>
            </a:r>
            <a:endParaRPr lang="ar-SA" sz="1800" b="0">
              <a:solidFill>
                <a:srgbClr val="6150EA"/>
              </a:solidFill>
              <a:latin typeface="Readex Pro"/>
              <a:ea typeface="Readex Pro"/>
              <a:cs typeface="Readex Pro"/>
              <a:sym typeface="Readex Pro"/>
            </a:endParaRPr>
          </a:p>
        </p:txBody>
      </p:sp>
      <p:sp>
        <p:nvSpPr>
          <p:cNvPr id="3002" name="Text 3002"/>
          <p:cNvSpPr txBox="1"/>
          <p:nvPr/>
        </p:nvSpPr>
        <p:spPr>
          <a:xfrm>
            <a:off x="1409700" y="1809750"/>
            <a:ext cx="15430500" cy="952500"/>
          </a:xfrm>
          <a:prstGeom prst="rect">
            <a:avLst/>
          </a:prstGeom>
          <a:noFill/>
          <a:ln>
            <a:noFill/>
          </a:ln>
        </p:spPr>
        <p:txBody>
          <a:bodyPr wrap="square" lIns="0" rIns="0" tIns="0" bIns="0" anchor="t" anchorCtr="0">
            <a:noAutofit/>
          </a:bodyPr>
          <a:lstStyle/>
          <a:p>
            <a:pPr marL="0" indent="0" rtl="1" algn="r">
              <a:lnSpc>
                <a:spcPct val="100000"/>
              </a:lnSpc>
              <a:spcBef>
                <a:spcPts val="0"/>
              </a:spcBef>
              <a:spcAft>
                <a:spcPts val="0"/>
              </a:spcAft>
              <a:buNone/>
            </a:pPr>
            <a:r>
              <a:rPr lang="ar-SA" sz="4500" b="1">
                <a:solidFill>
                  <a:srgbClr val="12183F"/>
                </a:solidFill>
                <a:latin typeface="Readex Pro"/>
                <a:ea typeface="Readex Pro"/>
                <a:cs typeface="Readex Pro"/>
                <a:sym typeface="Readex Pro"/>
              </a:rPr>
              <a:t>الموقع بلا كلفة لكل زيارة، والتشغيل محدود بسقف</a:t>
            </a:r>
            <a:endParaRPr lang="ar-SA" sz="4500" b="1">
              <a:solidFill>
                <a:srgbClr val="12183F"/>
              </a:solidFill>
              <a:latin typeface="Readex Pro"/>
              <a:ea typeface="Readex Pro"/>
              <a:cs typeface="Readex Pro"/>
              <a:sym typeface="Readex Pro"/>
            </a:endParaRPr>
          </a:p>
        </p:txBody>
      </p:sp>
      <p:graphicFrame>
        <p:nvGraphicFramePr>
          <p:cNvPr id="3003" name="Table 3003"/>
          <p:cNvGraphicFramePr>
            <a:graphicFrameLocks noGrp="1"/>
          </p:cNvGraphicFramePr>
          <p:nvPr/>
        </p:nvGraphicFramePr>
        <p:xfrm>
          <a:off x="1409700" y="3300000"/>
          <a:ext cx="15430500" cy="4950000"/>
        </p:xfrm>
        <a:graphic>
          <a:graphicData uri="http://schemas.openxmlformats.org/drawingml/2006/table">
            <a:tbl>
              <a:tblPr firstRow="1" bandRow="1">
                <a:noFill/>
              </a:tblPr>
              <a:tblGrid>
                <a:gridCol w="11730500"/>
                <a:gridCol w="3700000"/>
              </a:tblGrid>
              <a:tr h="700000">
                <a:tc>
                  <a:txBody>
                    <a:bodyPr/>
                    <a:lstStyle/>
                    <a:p>
                      <a:pPr marL="0" indent="0" rtl="1" algn="r">
                        <a:lnSpc>
                          <a:spcPct val="100000"/>
                        </a:lnSpc>
                        <a:spcBef>
                          <a:spcPts val="0"/>
                        </a:spcBef>
                        <a:spcAft>
                          <a:spcPts val="0"/>
                        </a:spcAft>
                        <a:buNone/>
                      </a:pPr>
                      <a:r>
                        <a:rPr lang="ar-SA" sz="2000" b="1">
                          <a:solidFill>
                            <a:srgbClr val="6150EA"/>
                          </a:solidFill>
                          <a:latin typeface="Readex Pro"/>
                          <a:ea typeface="Readex Pro"/>
                          <a:cs typeface="Readex Pro"/>
                          <a:sym typeface="Readex Pro"/>
                        </a:rPr>
                        <a:t>من السجلات والإعدادات</a:t>
                      </a:r>
                      <a:endParaRPr lang="ar-SA" sz="2000" b="1">
                        <a:solidFill>
                          <a:srgbClr val="6150EA"/>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E0D9FB"/>
                    </a:solidFill>
                  </a:tcPr>
                </a:tc>
                <a:tc>
                  <a:txBody>
                    <a:bodyPr/>
                    <a:lstStyle/>
                    <a:p>
                      <a:pPr marL="0" indent="0" rtl="1" algn="r">
                        <a:lnSpc>
                          <a:spcPct val="100000"/>
                        </a:lnSpc>
                        <a:spcBef>
                          <a:spcPts val="0"/>
                        </a:spcBef>
                        <a:spcAft>
                          <a:spcPts val="0"/>
                        </a:spcAft>
                        <a:buNone/>
                      </a:pPr>
                      <a:r>
                        <a:rPr lang="ar-SA" sz="2000" b="1">
                          <a:solidFill>
                            <a:srgbClr val="6150EA"/>
                          </a:solidFill>
                          <a:latin typeface="Readex Pro"/>
                          <a:ea typeface="Readex Pro"/>
                          <a:cs typeface="Readex Pro"/>
                          <a:sym typeface="Readex Pro"/>
                        </a:rPr>
                        <a:t>البند</a:t>
                      </a:r>
                      <a:endParaRPr lang="ar-SA" sz="2000" b="1">
                        <a:solidFill>
                          <a:srgbClr val="6150EA"/>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E0D9FB"/>
                    </a:solidFill>
                  </a:tcPr>
                </a:tc>
              </a:tr>
              <a:tr h="850000">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24 طلباً لكل جولة؛ متوسط الرموز 951 إدخال، 96 إخراج، 432 تفكير</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الحَكَم والاستخراج</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r>
              <a:tr h="850000">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12 طلباً لكل جولة؛ 156 إدخال، 429 إخراج</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المساعد</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r>
              <a:tr h="850000">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لا رقم: السعر يُؤخذ من صفحة المزوّد وقت التشغيل</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الكلفة</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r>
              <a:tr h="850000">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cached افتراضي بلا أي استدعاء؛ live بسقف 10 استدعاءات يومياً</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الأوضاع</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FFFFF"/>
                    </a:solidFill>
                  </a:tcPr>
                </a:tc>
              </a:tr>
              <a:tr h="850000">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أي واجهة متوافقة مع OpenAI، وAnthropic مبني ولم يُستدعَ</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c>
                  <a:txBody>
                    <a:bodyPr/>
                    <a:lstStyle/>
                    <a:p>
                      <a:pPr marL="0" indent="0" rtl="1" algn="r">
                        <a:lnSpc>
                          <a:spcPct val="100000"/>
                        </a:lnSpc>
                        <a:spcBef>
                          <a:spcPts val="0"/>
                        </a:spcBef>
                        <a:spcAft>
                          <a:spcPts val="0"/>
                        </a:spcAft>
                        <a:buNone/>
                      </a:pPr>
                      <a:r>
                        <a:rPr lang="ar-SA" sz="2000" b="0">
                          <a:solidFill>
                            <a:srgbClr val="12183F"/>
                          </a:solidFill>
                          <a:latin typeface="Readex Pro"/>
                          <a:ea typeface="Readex Pro"/>
                          <a:cs typeface="Readex Pro"/>
                          <a:sym typeface="Readex Pro"/>
                        </a:rPr>
                        <a:t>البدائل</a:t>
                      </a:r>
                      <a:endParaRPr lang="ar-SA" sz="2000" b="0">
                        <a:solidFill>
                          <a:srgbClr val="12183F"/>
                        </a:solidFill>
                        <a:latin typeface="Readex Pro"/>
                        <a:ea typeface="Readex Pro"/>
                        <a:cs typeface="Readex Pro"/>
                        <a:sym typeface="Readex Pro"/>
                      </a:endParaRPr>
                    </a:p>
                  </a:txBody>
                  <a:tcPr marL="91450" marR="91450" marT="45725" marB="45725" anchor="ctr">
                    <a:lnL w="9525">
                      <a:solidFill>
                        <a:srgbClr val="E0D9FB"/>
                      </a:solidFill>
                    </a:lnL>
                    <a:lnR w="9525">
                      <a:solidFill>
                        <a:srgbClr val="E0D9FB"/>
                      </a:solidFill>
                    </a:lnR>
                    <a:lnT w="9525">
                      <a:solidFill>
                        <a:srgbClr val="E0D9FB"/>
                      </a:solidFill>
                    </a:lnT>
                    <a:lnB w="9525">
                      <a:solidFill>
                        <a:srgbClr val="E0D9FB"/>
                      </a:solidFill>
                    </a:lnB>
                    <a:solidFill>
                      <a:srgbClr val="FAF9FF"/>
                    </a:solidFill>
                  </a:tcPr>
                </a:tc>
              </a:tr>
            </a:tbl>
          </a:graphicData>
        </a:graphic>
      </p:graphicFrame>
      <p:sp>
        <p:nvSpPr>
          <p:cNvPr id="3004" name="Text 3004"/>
          <p:cNvSpPr txBox="1"/>
          <p:nvPr/>
        </p:nvSpPr>
        <p:spPr>
          <a:xfrm>
            <a:off x="1409700" y="8650000"/>
            <a:ext cx="15430500" cy="500000"/>
          </a:xfrm>
          <a:prstGeom prst="rect">
            <a:avLst/>
          </a:prstGeom>
          <a:noFill/>
          <a:ln>
            <a:noFill/>
          </a:ln>
        </p:spPr>
        <p:txBody>
          <a:bodyPr wrap="square" lIns="0" rIns="0" tIns="0" bIns="0" anchor="t" anchorCtr="0">
            <a:noAutofit/>
          </a:bodyPr>
          <a:lstStyle/>
          <a:p>
            <a:pPr marL="0" indent="0" rtl="1" algn="r">
              <a:lnSpc>
                <a:spcPct val="100000"/>
              </a:lnSpc>
              <a:spcBef>
                <a:spcPts val="0"/>
              </a:spcBef>
              <a:spcAft>
                <a:spcPts val="0"/>
              </a:spcAft>
              <a:buNone/>
            </a:pPr>
            <a:r>
              <a:rPr lang="ar-SA" sz="1800" b="0">
                <a:solidFill>
                  <a:srgbClr val="4A5590"/>
                </a:solidFill>
                <a:latin typeface="Readex Pro"/>
                <a:ea typeface="Readex Pro"/>
                <a:cs typeface="Readex Pro"/>
                <a:sym typeface="Readex Pro"/>
              </a:rPr>
              <a:t>المصدر: docs/OPERATIONS.md (الأقسام 3 و8 و9)</a:t>
            </a:r>
            <a:endParaRPr lang="ar-SA" sz="1800" b="0">
              <a:solidFill>
                <a:srgbClr val="4A5590"/>
              </a:solidFill>
              <a:latin typeface="Readex Pro"/>
              <a:ea typeface="Readex Pro"/>
              <a:cs typeface="Readex Pro"/>
              <a:sym typeface="Readex Pr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marL="0" indent="0" rtl="1" algn="ctr">
              <a:lnSpc>
                <a:spcPct val="100000"/>
              </a:lnSpc>
              <a:spcBef>
                <a:spcPts val="0"/>
              </a:spcBef>
              <a:spcAft>
                <a:spcPts val="0"/>
              </a:spcAft>
              <a:buNone/>
            </a:pPr>
            <a:r>
              <a:rPr lang="ar-SA" sz="2700" b="1">
                <a:solidFill>
                  <a:srgbClr val="F2F4FF"/>
                </a:solidFill>
                <a:latin typeface="Readex Pro"/>
                <a:ea typeface="Readex Pro"/>
                <a:cs typeface="Readex Pro"/>
                <a:sym typeface="Readex Pro"/>
              </a:rPr>
              <a:t>مِعيار — أداة مدعومة بالذكاء الاصطناعي، لا تُصدر فتاوى</a:t>
            </a:r>
            <a:endParaRPr lang="ar-SA" sz="2700" b="1">
              <a:solidFill>
                <a:srgbClr val="F2F4FF"/>
              </a:solidFill>
              <a:latin typeface="Readex Pro"/>
              <a:ea typeface="Readex Pro"/>
              <a:cs typeface="Readex Pro"/>
              <a:sym typeface="Readex Pro"/>
            </a:endParaRPr>
          </a:p>
        </p:txBody>
      </p:sp>
      <p:sp>
        <p:nvSpPr>
          <p:cNvPr id="916" name="Google Shape;916;p31"/>
          <p:cNvSpPr txBox="1"/>
          <p:nvPr>
            <p:ph idx="2" type="body"/>
          </p:nvPr>
        </p:nvSpPr>
        <p:spPr>
          <a:xfrm>
            <a:off x="3810000" y="6653200"/>
            <a:ext cx="10668000" cy="1000000"/>
          </a:xfrm>
          <a:prstGeom prst="rect">
            <a:avLst/>
          </a:prstGeom>
          <a:noFill/>
          <a:ln>
            <a:noFill/>
          </a:ln>
        </p:spPr>
        <p:txBody>
          <a:bodyPr anchorCtr="0" anchor="t" bIns="0" lIns="0" spcFirstLastPara="1" rIns="0" wrap="square" tIns="0">
            <a:noAutofit/>
          </a:bodyPr>
          <a:lstStyle/>
          <a:p>
            <a:pPr rtl="0" algn="ctr">
              <a:lnSpc>
                <a:spcPct val="110000"/>
              </a:lnSpc>
              <a:buNone/>
            </a:pPr>
            <a:r>
              <a:rPr lang="en-US" sz="2100" b="0">
                <a:solidFill>
                  <a:srgbClr val="2EF2C2"/>
                </a:solidFill>
                <a:latin typeface="Readex Pro"/>
                <a:ea typeface="Readex Pro"/>
                <a:cs typeface="Readex Pro"/>
                <a:sym typeface="Readex Pro"/>
                <a:hlinkClick r:id="rId11"/>
              </a:rPr>
              <a:t>https://miyar.w7by4nrcfd.workers.dev</a:t>
            </a:r>
          </a:p>
          <a:p>
            <a:pPr rtl="0" algn="ctr">
              <a:lnSpc>
                <a:spcPct val="110000"/>
              </a:lnSpc>
              <a:buNone/>
            </a:pPr>
            <a:r>
              <a:rPr lang="en-US" sz="2100" b="0">
                <a:solidFill>
                  <a:srgbClr val="2EF2C2"/>
                </a:solidFill>
                <a:latin typeface="Readex Pro"/>
                <a:ea typeface="Readex Pro"/>
                <a:cs typeface="Readex Pro"/>
                <a:sym typeface="Readex Pro"/>
                <a:hlinkClick r:id="rId12"/>
              </a:rPr>
              <a:t>https://github.com/w7by4nrcfd-cpu/Miyar</a:t>
            </a: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a:solidFill>
                  <a:srgbClr val="2EF2C2"/>
                </a:solidFill>
                <a:latin typeface="Readex Pro"/>
                <a:ea typeface="Readex Pro"/>
                <a:cs typeface="Readex Pro"/>
                <a:sym typeface="Readex Pro"/>
              </a:rPr>
              <a:t>شركاؤنا</a:t>
            </a:r>
            <a:r>
              <a:rPr lang="ar-SA">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